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6151" y="411603"/>
            <a:ext cx="8311697" cy="396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57900" y="0"/>
            <a:ext cx="3086100" cy="5143500"/>
            <a:chOff x="6057900" y="0"/>
            <a:chExt cx="30861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7900" y="58657"/>
              <a:ext cx="2971799" cy="502770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83686" y="0"/>
              <a:ext cx="3060700" cy="5143500"/>
            </a:xfrm>
            <a:custGeom>
              <a:avLst/>
              <a:gdLst/>
              <a:ahLst/>
              <a:cxnLst/>
              <a:rect l="l" t="t" r="r" b="b"/>
              <a:pathLst>
                <a:path w="3060700" h="5143500">
                  <a:moveTo>
                    <a:pt x="3060313" y="0"/>
                  </a:moveTo>
                  <a:lnTo>
                    <a:pt x="0" y="0"/>
                  </a:lnTo>
                  <a:lnTo>
                    <a:pt x="0" y="5143499"/>
                  </a:lnTo>
                  <a:lnTo>
                    <a:pt x="3060313" y="5143499"/>
                  </a:lnTo>
                  <a:lnTo>
                    <a:pt x="3060313" y="0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92340" y="2129790"/>
              <a:ext cx="642935" cy="8572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39228" y="3538727"/>
              <a:ext cx="1543049" cy="1543048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87505" y="1327477"/>
            <a:ext cx="3102610" cy="154432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15"/>
              </a:spcBef>
            </a:pPr>
            <a:r>
              <a:rPr sz="3300" spc="-25" dirty="0">
                <a:solidFill>
                  <a:srgbClr val="1E293A"/>
                </a:solidFill>
              </a:rPr>
              <a:t>AI-</a:t>
            </a:r>
            <a:r>
              <a:rPr sz="3300" spc="-10" dirty="0">
                <a:solidFill>
                  <a:srgbClr val="1E293A"/>
                </a:solidFill>
              </a:rPr>
              <a:t>POWERED</a:t>
            </a:r>
            <a:r>
              <a:rPr sz="3300" b="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3250" dirty="0">
                <a:solidFill>
                  <a:srgbClr val="1E293A"/>
                </a:solidFill>
              </a:rPr>
              <a:t>PROMPT</a:t>
            </a:r>
            <a:r>
              <a:rPr sz="3250" b="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3250" spc="-10" dirty="0">
                <a:solidFill>
                  <a:srgbClr val="1E293A"/>
                </a:solidFill>
              </a:rPr>
              <a:t>LIBRARY</a:t>
            </a:r>
            <a:r>
              <a:rPr sz="3250" b="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3300" dirty="0">
                <a:solidFill>
                  <a:srgbClr val="1E293A"/>
                </a:solidFill>
              </a:rPr>
              <a:t>FOR</a:t>
            </a:r>
            <a:r>
              <a:rPr sz="3300" b="0" spc="-18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3300" dirty="0">
                <a:solidFill>
                  <a:srgbClr val="1E293A"/>
                </a:solidFill>
              </a:rPr>
              <a:t>REAL</a:t>
            </a:r>
            <a:r>
              <a:rPr sz="3300" b="0" spc="-17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3300" spc="-10" dirty="0">
                <a:solidFill>
                  <a:srgbClr val="1E293A"/>
                </a:solidFill>
              </a:rPr>
              <a:t>ESTATE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7505" y="3020110"/>
            <a:ext cx="4139565" cy="58293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700" dirty="0">
                <a:solidFill>
                  <a:srgbClr val="465469"/>
                </a:solidFill>
                <a:latin typeface="Calibri"/>
                <a:cs typeface="Calibri"/>
              </a:rPr>
              <a:t>Elevating</a:t>
            </a:r>
            <a:r>
              <a:rPr sz="1700" spc="-9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465469"/>
                </a:solidFill>
                <a:latin typeface="Calibri"/>
                <a:cs typeface="Calibri"/>
              </a:rPr>
              <a:t>Workflow</a:t>
            </a:r>
            <a:r>
              <a:rPr sz="1700" spc="-6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65469"/>
                </a:solidFill>
                <a:latin typeface="Calibri"/>
                <a:cs typeface="Calibri"/>
              </a:rPr>
              <a:t>Automation</a:t>
            </a:r>
            <a:r>
              <a:rPr sz="1700" spc="-7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65469"/>
                </a:solidFill>
                <a:latin typeface="Calibri"/>
                <a:cs typeface="Calibri"/>
              </a:rPr>
              <a:t>&amp;</a:t>
            </a:r>
            <a:r>
              <a:rPr sz="1700" spc="-6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465469"/>
                </a:solidFill>
                <a:latin typeface="Calibri"/>
                <a:cs typeface="Calibri"/>
              </a:rPr>
              <a:t>Professional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700" spc="-10" dirty="0">
                <a:solidFill>
                  <a:srgbClr val="465469"/>
                </a:solidFill>
                <a:latin typeface="Calibri"/>
                <a:cs typeface="Calibri"/>
              </a:rPr>
              <a:t>Efficiency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050" y="1029919"/>
            <a:ext cx="3657599" cy="285665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3999" y="0"/>
                </a:moveTo>
                <a:lnTo>
                  <a:pt x="0" y="0"/>
                </a:lnTo>
                <a:lnTo>
                  <a:pt x="0" y="857249"/>
                </a:lnTo>
                <a:lnTo>
                  <a:pt x="9143999" y="857249"/>
                </a:lnTo>
                <a:lnTo>
                  <a:pt x="9143999" y="0"/>
                </a:lnTo>
                <a:close/>
              </a:path>
            </a:pathLst>
          </a:custGeom>
          <a:solidFill>
            <a:srgbClr val="1E29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6151" y="202129"/>
            <a:ext cx="3601720" cy="3975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WHY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dirty="0"/>
              <a:t>BASIC</a:t>
            </a:r>
            <a:r>
              <a:rPr b="0" spc="-40" dirty="0">
                <a:latin typeface="Times New Roman"/>
                <a:cs typeface="Times New Roman"/>
              </a:rPr>
              <a:t> </a:t>
            </a:r>
            <a:r>
              <a:rPr dirty="0"/>
              <a:t>AI</a:t>
            </a:r>
            <a:r>
              <a:rPr b="0" spc="-15" dirty="0">
                <a:latin typeface="Times New Roman"/>
                <a:cs typeface="Times New Roman"/>
              </a:rPr>
              <a:t> </a:t>
            </a:r>
            <a:r>
              <a:rPr dirty="0"/>
              <a:t>QUERIES</a:t>
            </a:r>
            <a:r>
              <a:rPr b="0" spc="-15" dirty="0">
                <a:latin typeface="Times New Roman"/>
                <a:cs typeface="Times New Roman"/>
              </a:rPr>
              <a:t> </a:t>
            </a:r>
            <a:r>
              <a:rPr spc="-20" dirty="0"/>
              <a:t>FAIL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857301"/>
            <a:ext cx="3458210" cy="3870325"/>
          </a:xfrm>
          <a:custGeom>
            <a:avLst/>
            <a:gdLst/>
            <a:ahLst/>
            <a:cxnLst/>
            <a:rect l="l" t="t" r="r" b="b"/>
            <a:pathLst>
              <a:path w="3458210" h="3870325">
                <a:moveTo>
                  <a:pt x="3457590" y="0"/>
                </a:moveTo>
                <a:lnTo>
                  <a:pt x="0" y="0"/>
                </a:lnTo>
                <a:lnTo>
                  <a:pt x="0" y="3870075"/>
                </a:lnTo>
                <a:lnTo>
                  <a:pt x="3457590" y="3870075"/>
                </a:lnTo>
                <a:lnTo>
                  <a:pt x="3457590" y="0"/>
                </a:lnTo>
                <a:close/>
              </a:path>
            </a:pathLst>
          </a:custGeom>
          <a:solidFill>
            <a:srgbClr val="F8FA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16151" y="902915"/>
            <a:ext cx="2739390" cy="862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4399"/>
              </a:lnSpc>
              <a:spcBef>
                <a:spcPts val="95"/>
              </a:spcBef>
            </a:pPr>
            <a:r>
              <a:rPr sz="1600" b="1" dirty="0">
                <a:solidFill>
                  <a:srgbClr val="1E293A"/>
                </a:solidFill>
                <a:latin typeface="Calibri"/>
                <a:cs typeface="Calibri"/>
              </a:rPr>
              <a:t>The</a:t>
            </a:r>
            <a:r>
              <a:rPr sz="1600" spc="-7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1E293A"/>
                </a:solidFill>
                <a:latin typeface="Calibri"/>
                <a:cs typeface="Calibri"/>
              </a:rPr>
              <a:t>gap</a:t>
            </a:r>
            <a:r>
              <a:rPr sz="1600" spc="-8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1E293A"/>
                </a:solidFill>
                <a:latin typeface="Calibri"/>
                <a:cs typeface="Calibri"/>
              </a:rPr>
              <a:t>between</a:t>
            </a:r>
            <a:r>
              <a:rPr sz="1600" spc="-5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1E293A"/>
                </a:solidFill>
                <a:latin typeface="Calibri"/>
                <a:cs typeface="Calibri"/>
              </a:rPr>
              <a:t>"using</a:t>
            </a:r>
            <a:r>
              <a:rPr sz="1600" spc="-8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1E293A"/>
                </a:solidFill>
                <a:latin typeface="Calibri"/>
                <a:cs typeface="Calibri"/>
              </a:rPr>
              <a:t>AI"</a:t>
            </a:r>
            <a:r>
              <a:rPr sz="1600" spc="-7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600" b="1" spc="-25" dirty="0">
                <a:solidFill>
                  <a:srgbClr val="1E293A"/>
                </a:solidFill>
                <a:latin typeface="Calibri"/>
                <a:cs typeface="Calibri"/>
              </a:rPr>
              <a:t>and</a:t>
            </a:r>
            <a:r>
              <a:rPr sz="16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1E293A"/>
                </a:solidFill>
                <a:latin typeface="Calibri"/>
                <a:cs typeface="Calibri"/>
              </a:rPr>
              <a:t>"mastering</a:t>
            </a:r>
            <a:r>
              <a:rPr sz="1600" spc="-5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1E293A"/>
                </a:solidFill>
                <a:latin typeface="Calibri"/>
                <a:cs typeface="Calibri"/>
              </a:rPr>
              <a:t>AI"</a:t>
            </a:r>
            <a:r>
              <a:rPr sz="16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1E293A"/>
                </a:solidFill>
                <a:latin typeface="Calibri"/>
                <a:cs typeface="Calibri"/>
              </a:rPr>
              <a:t>is</a:t>
            </a:r>
            <a:r>
              <a:rPr sz="1600" spc="-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1E293A"/>
                </a:solidFill>
                <a:latin typeface="Calibri"/>
                <a:cs typeface="Calibri"/>
              </a:rPr>
              <a:t>structured</a:t>
            </a:r>
            <a:r>
              <a:rPr sz="160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1E293A"/>
                </a:solidFill>
                <a:latin typeface="Calibri"/>
                <a:cs typeface="Calibri"/>
              </a:rPr>
              <a:t>prompting.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95699" y="1260729"/>
            <a:ext cx="4027170" cy="648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dirty="0">
                <a:solidFill>
                  <a:srgbClr val="1E293A"/>
                </a:solidFill>
                <a:latin typeface="Calibri"/>
                <a:cs typeface="Calibri"/>
              </a:rPr>
              <a:t>Generic</a:t>
            </a:r>
            <a:r>
              <a:rPr sz="1150" spc="8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50" b="1" spc="-10" dirty="0">
                <a:solidFill>
                  <a:srgbClr val="1E293A"/>
                </a:solidFill>
                <a:latin typeface="Calibri"/>
                <a:cs typeface="Calibri"/>
              </a:rPr>
              <a:t>Outputs</a:t>
            </a: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Standard</a:t>
            </a:r>
            <a:r>
              <a:rPr sz="950" spc="-4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queries</a:t>
            </a:r>
            <a:r>
              <a:rPr sz="950" spc="-4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lack</a:t>
            </a:r>
            <a:r>
              <a:rPr sz="950" spc="-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professional</a:t>
            </a:r>
            <a:r>
              <a:rPr sz="950" spc="-4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depth</a:t>
            </a:r>
            <a:r>
              <a:rPr sz="950" spc="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and</a:t>
            </a:r>
            <a:r>
              <a:rPr sz="950" spc="-1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local</a:t>
            </a:r>
            <a:r>
              <a:rPr sz="950" spc="-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Melbourne</a:t>
            </a:r>
            <a:r>
              <a:rPr sz="950" spc="-4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context,</a:t>
            </a:r>
            <a:r>
              <a:rPr sz="950" spc="-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resulting</a:t>
            </a:r>
            <a:r>
              <a:rPr sz="950" spc="-4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25" dirty="0">
                <a:solidFill>
                  <a:srgbClr val="465469"/>
                </a:solidFill>
                <a:latin typeface="Calibri"/>
                <a:cs typeface="Calibri"/>
              </a:rPr>
              <a:t>in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"robotic"</a:t>
            </a:r>
            <a:r>
              <a:rPr sz="950" spc="-3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content.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95702" y="2241547"/>
            <a:ext cx="1276985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dirty="0">
                <a:solidFill>
                  <a:srgbClr val="1E293A"/>
                </a:solidFill>
                <a:latin typeface="Calibri"/>
                <a:cs typeface="Calibri"/>
              </a:rPr>
              <a:t>Inconsistent</a:t>
            </a:r>
            <a:r>
              <a:rPr sz="1150" spc="1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50" b="1" spc="-10" dirty="0">
                <a:solidFill>
                  <a:srgbClr val="1E293A"/>
                </a:solidFill>
                <a:latin typeface="Calibri"/>
                <a:cs typeface="Calibri"/>
              </a:rPr>
              <a:t>Results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95702" y="2483050"/>
            <a:ext cx="432371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600"/>
              </a:lnSpc>
              <a:spcBef>
                <a:spcPts val="100"/>
              </a:spcBef>
            </a:pP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Unstructured</a:t>
            </a:r>
            <a:r>
              <a:rPr sz="950" spc="-2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prompts</a:t>
            </a:r>
            <a:r>
              <a:rPr sz="950" spc="-4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lead</a:t>
            </a:r>
            <a:r>
              <a:rPr sz="95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to</a:t>
            </a:r>
            <a:r>
              <a:rPr sz="950" spc="2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unpredictable</a:t>
            </a:r>
            <a:r>
              <a:rPr sz="950" spc="-4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quality,</a:t>
            </a:r>
            <a:r>
              <a:rPr sz="95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requiring</a:t>
            </a:r>
            <a:r>
              <a:rPr sz="950" spc="-4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significant</a:t>
            </a:r>
            <a:r>
              <a:rPr sz="950" spc="-5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manual</a:t>
            </a:r>
            <a:r>
              <a:rPr sz="950" spc="-1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rework</a:t>
            </a:r>
            <a:r>
              <a:rPr sz="950" spc="-1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and</a:t>
            </a:r>
            <a:r>
              <a:rPr sz="950" spc="-4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time.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95702" y="3222496"/>
            <a:ext cx="1263650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dirty="0">
                <a:solidFill>
                  <a:srgbClr val="1E293A"/>
                </a:solidFill>
                <a:latin typeface="Calibri"/>
                <a:cs typeface="Calibri"/>
              </a:rPr>
              <a:t>Missing</a:t>
            </a:r>
            <a:r>
              <a:rPr sz="1150" spc="5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50" b="1" spc="-10" dirty="0">
                <a:solidFill>
                  <a:srgbClr val="1E293A"/>
                </a:solidFill>
                <a:latin typeface="Calibri"/>
                <a:cs typeface="Calibri"/>
              </a:rPr>
              <a:t>Perspective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95702" y="3463873"/>
            <a:ext cx="436626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600"/>
              </a:lnSpc>
              <a:spcBef>
                <a:spcPts val="100"/>
              </a:spcBef>
            </a:pP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Without</a:t>
            </a:r>
            <a:r>
              <a:rPr sz="950" spc="-4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role-based</a:t>
            </a:r>
            <a:r>
              <a:rPr sz="950" spc="-4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framing,</a:t>
            </a:r>
            <a:r>
              <a:rPr sz="950" spc="-4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AI</a:t>
            </a:r>
            <a:r>
              <a:rPr sz="950" spc="-2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fails</a:t>
            </a:r>
            <a:r>
              <a:rPr sz="950" spc="-3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to</a:t>
            </a:r>
            <a:r>
              <a:rPr sz="950" spc="-2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adopt</a:t>
            </a:r>
            <a:r>
              <a:rPr sz="950" spc="-2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the</a:t>
            </a:r>
            <a:r>
              <a:rPr sz="950" spc="-3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specific</a:t>
            </a:r>
            <a:r>
              <a:rPr sz="950" spc="-4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voice</a:t>
            </a:r>
            <a:r>
              <a:rPr sz="950" spc="-4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of</a:t>
            </a:r>
            <a:r>
              <a:rPr sz="950" spc="-1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an</a:t>
            </a:r>
            <a:r>
              <a:rPr sz="950" spc="-2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Analyst,</a:t>
            </a:r>
            <a:r>
              <a:rPr sz="950" spc="-5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Manager,</a:t>
            </a:r>
            <a:r>
              <a:rPr sz="950" spc="-6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25" dirty="0">
                <a:solidFill>
                  <a:srgbClr val="465469"/>
                </a:solidFill>
                <a:latin typeface="Calibri"/>
                <a:cs typeface="Calibri"/>
              </a:rPr>
              <a:t>or</a:t>
            </a:r>
            <a:r>
              <a:rPr sz="950" spc="-2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Negotiator.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29090" y="3984428"/>
            <a:ext cx="4544060" cy="742950"/>
          </a:xfrm>
          <a:prstGeom prst="rect">
            <a:avLst/>
          </a:prstGeom>
          <a:solidFill>
            <a:srgbClr val="2462EB"/>
          </a:solidFill>
        </p:spPr>
        <p:txBody>
          <a:bodyPr vert="horz" wrap="square" lIns="0" tIns="86995" rIns="0" bIns="0" rtlCol="0">
            <a:spAutoFit/>
          </a:bodyPr>
          <a:lstStyle/>
          <a:p>
            <a:pPr marL="255270" marR="337185">
              <a:lnSpc>
                <a:spcPct val="110500"/>
              </a:lnSpc>
              <a:spcBef>
                <a:spcPts val="68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105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Insight:</a:t>
            </a:r>
            <a:r>
              <a:rPr sz="10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Professional</a:t>
            </a:r>
            <a:r>
              <a:rPr sz="105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results</a:t>
            </a:r>
            <a:r>
              <a:rPr sz="10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require</a:t>
            </a:r>
            <a:r>
              <a:rPr sz="105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moving</a:t>
            </a:r>
            <a:r>
              <a:rPr sz="10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beyond</a:t>
            </a:r>
            <a:r>
              <a:rPr sz="10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simple</a:t>
            </a:r>
            <a:r>
              <a:rPr sz="10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questions</a:t>
            </a:r>
            <a:r>
              <a:rPr sz="10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0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0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structured</a:t>
            </a:r>
            <a:r>
              <a:rPr sz="10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framework.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39228" y="3538728"/>
            <a:ext cx="1543049" cy="15430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606" y="1461982"/>
            <a:ext cx="8608218" cy="8212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9144000" cy="1371600"/>
          </a:xfrm>
          <a:custGeom>
            <a:avLst/>
            <a:gdLst/>
            <a:ahLst/>
            <a:cxnLst/>
            <a:rect l="l" t="t" r="r" b="b"/>
            <a:pathLst>
              <a:path w="9144000" h="1371600">
                <a:moveTo>
                  <a:pt x="9143999" y="0"/>
                </a:moveTo>
                <a:lnTo>
                  <a:pt x="0" y="0"/>
                </a:lnTo>
                <a:lnTo>
                  <a:pt x="0" y="1371599"/>
                </a:lnTo>
                <a:lnTo>
                  <a:pt x="9143999" y="1371599"/>
                </a:lnTo>
                <a:lnTo>
                  <a:pt x="9143999" y="0"/>
                </a:lnTo>
                <a:close/>
              </a:path>
            </a:pathLst>
          </a:custGeom>
          <a:solidFill>
            <a:srgbClr val="F8FA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6151" y="411603"/>
            <a:ext cx="3791585" cy="3968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>
                <a:solidFill>
                  <a:srgbClr val="1E293A"/>
                </a:solidFill>
              </a:rPr>
              <a:t>THE</a:t>
            </a:r>
            <a:r>
              <a:rPr b="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pc="-20" dirty="0">
                <a:solidFill>
                  <a:srgbClr val="1E293A"/>
                </a:solidFill>
              </a:rPr>
              <a:t>STRATEGIC</a:t>
            </a:r>
            <a:r>
              <a:rPr b="0" spc="-5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1E293A"/>
                </a:solidFill>
              </a:rPr>
              <a:t>FRAMEWORK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6151" y="882138"/>
            <a:ext cx="3070860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dirty="0">
                <a:solidFill>
                  <a:srgbClr val="2462EB"/>
                </a:solidFill>
                <a:latin typeface="Calibri"/>
                <a:cs typeface="Calibri"/>
              </a:rPr>
              <a:t>A</a:t>
            </a:r>
            <a:r>
              <a:rPr sz="1250" spc="-30" dirty="0">
                <a:solidFill>
                  <a:srgbClr val="2462EB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2462EB"/>
                </a:solidFill>
                <a:latin typeface="Calibri"/>
                <a:cs typeface="Calibri"/>
              </a:rPr>
              <a:t>Refined</a:t>
            </a:r>
            <a:r>
              <a:rPr sz="1250" spc="-35" dirty="0">
                <a:solidFill>
                  <a:srgbClr val="2462EB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2462EB"/>
                </a:solidFill>
                <a:latin typeface="Calibri"/>
                <a:cs typeface="Calibri"/>
              </a:rPr>
              <a:t>Approach</a:t>
            </a:r>
            <a:r>
              <a:rPr sz="1250" spc="-45" dirty="0">
                <a:solidFill>
                  <a:srgbClr val="2462EB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2462EB"/>
                </a:solidFill>
                <a:latin typeface="Calibri"/>
                <a:cs typeface="Calibri"/>
              </a:rPr>
              <a:t>to</a:t>
            </a:r>
            <a:r>
              <a:rPr sz="1250" spc="-40" dirty="0">
                <a:solidFill>
                  <a:srgbClr val="2462EB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2462EB"/>
                </a:solidFill>
                <a:latin typeface="Calibri"/>
                <a:cs typeface="Calibri"/>
              </a:rPr>
              <a:t>Real</a:t>
            </a:r>
            <a:r>
              <a:rPr sz="1250" spc="-30" dirty="0">
                <a:solidFill>
                  <a:srgbClr val="2462EB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2462EB"/>
                </a:solidFill>
                <a:latin typeface="Calibri"/>
                <a:cs typeface="Calibri"/>
              </a:rPr>
              <a:t>Estate</a:t>
            </a:r>
            <a:r>
              <a:rPr sz="1250" spc="-35" dirty="0">
                <a:solidFill>
                  <a:srgbClr val="2462EB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2462EB"/>
                </a:solidFill>
                <a:latin typeface="Calibri"/>
                <a:cs typeface="Calibri"/>
              </a:rPr>
              <a:t>Automation</a:t>
            </a:r>
            <a:endParaRPr sz="125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5750" y="1655582"/>
            <a:ext cx="285749" cy="28574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73205" y="2137915"/>
            <a:ext cx="538480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spc="-10" dirty="0">
                <a:solidFill>
                  <a:srgbClr val="1E293A"/>
                </a:solidFill>
                <a:latin typeface="Calibri"/>
                <a:cs typeface="Calibri"/>
              </a:rPr>
              <a:t>CLARITY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3205" y="2447998"/>
            <a:ext cx="2397125" cy="431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Precise</a:t>
            </a:r>
            <a:r>
              <a:rPr sz="950" spc="-3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instructions</a:t>
            </a:r>
            <a:r>
              <a:rPr sz="950" spc="-5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that</a:t>
            </a:r>
            <a:r>
              <a:rPr sz="950" spc="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eliminate</a:t>
            </a:r>
            <a:r>
              <a:rPr sz="950" spc="-3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ambiguity</a:t>
            </a:r>
            <a:r>
              <a:rPr sz="950" spc="-3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25" dirty="0">
                <a:solidFill>
                  <a:srgbClr val="465469"/>
                </a:solidFill>
                <a:latin typeface="Calibri"/>
                <a:cs typeface="Calibri"/>
              </a:rPr>
              <a:t>and</a:t>
            </a:r>
            <a:r>
              <a:rPr sz="950" spc="-2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deliver</a:t>
            </a:r>
            <a:r>
              <a:rPr sz="950" spc="-4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business-ready</a:t>
            </a:r>
            <a:r>
              <a:rPr sz="950" spc="-4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outcomes</a:t>
            </a:r>
            <a:r>
              <a:rPr sz="950" spc="-3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instantly.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86140" y="1655582"/>
            <a:ext cx="357185" cy="28574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273935" y="2137915"/>
            <a:ext cx="1235710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dirty="0">
                <a:solidFill>
                  <a:srgbClr val="1E293A"/>
                </a:solidFill>
                <a:latin typeface="Calibri"/>
                <a:cs typeface="Calibri"/>
              </a:rPr>
              <a:t>ROLE</a:t>
            </a:r>
            <a:r>
              <a:rPr sz="1150" spc="6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50" b="1" spc="-10" dirty="0">
                <a:solidFill>
                  <a:srgbClr val="1E293A"/>
                </a:solidFill>
                <a:latin typeface="Calibri"/>
                <a:cs typeface="Calibri"/>
              </a:rPr>
              <a:t>ASSIGNMENT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73935" y="2447998"/>
            <a:ext cx="2564765" cy="431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Framing</a:t>
            </a:r>
            <a:r>
              <a:rPr sz="950" spc="-5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AI</a:t>
            </a:r>
            <a:r>
              <a:rPr sz="950" spc="-2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as</a:t>
            </a:r>
            <a:r>
              <a:rPr sz="950" spc="-2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a</a:t>
            </a:r>
            <a:r>
              <a:rPr sz="950" spc="-1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specialist—Analyst,</a:t>
            </a:r>
            <a:r>
              <a:rPr sz="950" spc="-6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Manager,</a:t>
            </a:r>
            <a:r>
              <a:rPr sz="950" spc="-5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25" dirty="0">
                <a:solidFill>
                  <a:srgbClr val="465469"/>
                </a:solidFill>
                <a:latin typeface="Calibri"/>
                <a:cs typeface="Calibri"/>
              </a:rPr>
              <a:t>or</a:t>
            </a:r>
            <a:r>
              <a:rPr sz="950" spc="-2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Copywriter—to</a:t>
            </a:r>
            <a:r>
              <a:rPr sz="950" spc="-5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ensure</a:t>
            </a:r>
            <a:r>
              <a:rPr sz="950" spc="-4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professional</a:t>
            </a:r>
            <a:r>
              <a:rPr sz="950" spc="-5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tone</a:t>
            </a:r>
            <a:r>
              <a:rPr sz="950" spc="-1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and</a:t>
            </a:r>
            <a:r>
              <a:rPr sz="950" spc="-2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depth.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86500" y="1655582"/>
            <a:ext cx="214312" cy="28574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274694" y="2137915"/>
            <a:ext cx="612140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spc="-10" dirty="0">
                <a:solidFill>
                  <a:srgbClr val="1E293A"/>
                </a:solidFill>
                <a:latin typeface="Calibri"/>
                <a:cs typeface="Calibri"/>
              </a:rPr>
              <a:t>CONTEXT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74694" y="2447998"/>
            <a:ext cx="2300605" cy="431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Integrating</a:t>
            </a:r>
            <a:r>
              <a:rPr sz="950" spc="-5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local</a:t>
            </a:r>
            <a:r>
              <a:rPr sz="950" spc="-3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Melbourne</a:t>
            </a:r>
            <a:r>
              <a:rPr sz="950" spc="-6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data</a:t>
            </a:r>
            <a:r>
              <a:rPr sz="950" spc="-2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and</a:t>
            </a:r>
            <a:r>
              <a:rPr sz="950" spc="-2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Victorian</a:t>
            </a:r>
            <a:r>
              <a:rPr sz="950" spc="-1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regulations</a:t>
            </a:r>
            <a:r>
              <a:rPr sz="950" spc="-1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for</a:t>
            </a:r>
            <a:r>
              <a:rPr sz="950" spc="2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hyper-</a:t>
            </a:r>
            <a:r>
              <a:rPr sz="950" spc="-20" dirty="0">
                <a:solidFill>
                  <a:srgbClr val="465469"/>
                </a:solidFill>
                <a:latin typeface="Calibri"/>
                <a:cs typeface="Calibri"/>
              </a:rPr>
              <a:t>relevant</a:t>
            </a:r>
            <a:r>
              <a:rPr sz="950" spc="-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results.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85750" y="3245988"/>
            <a:ext cx="8572500" cy="485775"/>
            <a:chOff x="285750" y="3245988"/>
            <a:chExt cx="8572500" cy="485775"/>
          </a:xfrm>
        </p:grpSpPr>
        <p:sp>
          <p:nvSpPr>
            <p:cNvPr id="16" name="object 16"/>
            <p:cNvSpPr/>
            <p:nvPr/>
          </p:nvSpPr>
          <p:spPr>
            <a:xfrm>
              <a:off x="285750" y="3245988"/>
              <a:ext cx="8572500" cy="485775"/>
            </a:xfrm>
            <a:custGeom>
              <a:avLst/>
              <a:gdLst/>
              <a:ahLst/>
              <a:cxnLst/>
              <a:rect l="l" t="t" r="r" b="b"/>
              <a:pathLst>
                <a:path w="8572500" h="485775">
                  <a:moveTo>
                    <a:pt x="8572499" y="0"/>
                  </a:moveTo>
                  <a:lnTo>
                    <a:pt x="0" y="0"/>
                  </a:lnTo>
                  <a:lnTo>
                    <a:pt x="0" y="485774"/>
                  </a:lnTo>
                  <a:lnTo>
                    <a:pt x="8572499" y="485774"/>
                  </a:lnTo>
                  <a:lnTo>
                    <a:pt x="8572499" y="0"/>
                  </a:lnTo>
                  <a:close/>
                </a:path>
              </a:pathLst>
            </a:custGeom>
            <a:solidFill>
              <a:srgbClr val="1E29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68574" y="3443349"/>
              <a:ext cx="171446" cy="17144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32363" y="3443349"/>
              <a:ext cx="171449" cy="17144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285750" y="3245988"/>
            <a:ext cx="8572500" cy="48577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1450">
              <a:latin typeface="Times New Roman"/>
              <a:cs typeface="Times New Roman"/>
            </a:endParaRPr>
          </a:p>
          <a:p>
            <a:pPr marL="228600">
              <a:lnSpc>
                <a:spcPct val="100000"/>
              </a:lnSpc>
              <a:tabLst>
                <a:tab pos="3215640" algn="l"/>
                <a:tab pos="6179820" algn="l"/>
              </a:tabLst>
            </a:pP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V1:</a:t>
            </a:r>
            <a:r>
              <a:rPr sz="9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BASIC</a:t>
            </a:r>
            <a:r>
              <a:rPr sz="9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b="1" spc="-20" dirty="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r>
              <a:rPr sz="95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V2:</a:t>
            </a:r>
            <a:r>
              <a:rPr sz="95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ROLE-</a:t>
            </a: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sz="95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950" b="1" dirty="0">
                <a:solidFill>
                  <a:srgbClr val="2462EB"/>
                </a:solidFill>
                <a:latin typeface="Calibri"/>
                <a:cs typeface="Calibri"/>
              </a:rPr>
              <a:t>V3:</a:t>
            </a:r>
            <a:r>
              <a:rPr sz="950" spc="85" dirty="0">
                <a:solidFill>
                  <a:srgbClr val="2462EB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2462EB"/>
                </a:solidFill>
                <a:latin typeface="Calibri"/>
                <a:cs typeface="Calibri"/>
              </a:rPr>
              <a:t>PROFESSIONAL</a:t>
            </a:r>
            <a:r>
              <a:rPr sz="950" spc="70" dirty="0">
                <a:solidFill>
                  <a:srgbClr val="2462EB"/>
                </a:solidFill>
                <a:latin typeface="Times New Roman"/>
                <a:cs typeface="Times New Roman"/>
              </a:rPr>
              <a:t> </a:t>
            </a:r>
            <a:r>
              <a:rPr sz="950" b="1" spc="-10" dirty="0">
                <a:solidFill>
                  <a:srgbClr val="2462EB"/>
                </a:solidFill>
                <a:latin typeface="Calibri"/>
                <a:cs typeface="Calibri"/>
              </a:rPr>
              <a:t>PROMPT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539228" y="3538728"/>
            <a:ext cx="1543049" cy="15430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743950" cy="5143500"/>
            <a:chOff x="0" y="0"/>
            <a:chExt cx="874395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050" y="458588"/>
              <a:ext cx="8343899" cy="297091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3964940" cy="5143500"/>
            </a:xfrm>
            <a:custGeom>
              <a:avLst/>
              <a:gdLst/>
              <a:ahLst/>
              <a:cxnLst/>
              <a:rect l="l" t="t" r="r" b="b"/>
              <a:pathLst>
                <a:path w="3964940" h="5143500">
                  <a:moveTo>
                    <a:pt x="3964807" y="0"/>
                  </a:moveTo>
                  <a:lnTo>
                    <a:pt x="0" y="0"/>
                  </a:lnTo>
                  <a:lnTo>
                    <a:pt x="0" y="5143499"/>
                  </a:lnTo>
                  <a:lnTo>
                    <a:pt x="3964807" y="5143499"/>
                  </a:lnTo>
                  <a:lnTo>
                    <a:pt x="3964807" y="0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16151" y="393315"/>
            <a:ext cx="1396365" cy="115951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15"/>
              </a:spcBef>
            </a:pPr>
            <a:r>
              <a:rPr spc="-10" dirty="0">
                <a:solidFill>
                  <a:srgbClr val="1E293A"/>
                </a:solidFill>
              </a:rPr>
              <a:t>PRECISION</a:t>
            </a:r>
            <a:r>
              <a:rPr b="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1E293A"/>
                </a:solidFill>
              </a:rPr>
              <a:t>MARKET</a:t>
            </a:r>
            <a:r>
              <a:rPr b="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1E293A"/>
                </a:solidFill>
              </a:rPr>
              <a:t>RESEARCH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16151" y="2003244"/>
            <a:ext cx="810260" cy="130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50" b="1" dirty="0">
                <a:solidFill>
                  <a:srgbClr val="2462EB"/>
                </a:solidFill>
                <a:latin typeface="Calibri"/>
                <a:cs typeface="Calibri"/>
              </a:rPr>
              <a:t>V1:</a:t>
            </a:r>
            <a:r>
              <a:rPr sz="650" spc="30" dirty="0">
                <a:solidFill>
                  <a:srgbClr val="2462EB"/>
                </a:solidFill>
                <a:latin typeface="Times New Roman"/>
                <a:cs typeface="Times New Roman"/>
              </a:rPr>
              <a:t> </a:t>
            </a:r>
            <a:r>
              <a:rPr sz="650" b="1" dirty="0">
                <a:solidFill>
                  <a:srgbClr val="2462EB"/>
                </a:solidFill>
                <a:latin typeface="Calibri"/>
                <a:cs typeface="Calibri"/>
              </a:rPr>
              <a:t>THE</a:t>
            </a:r>
            <a:r>
              <a:rPr sz="650" spc="45" dirty="0">
                <a:solidFill>
                  <a:srgbClr val="2462EB"/>
                </a:solidFill>
                <a:latin typeface="Times New Roman"/>
                <a:cs typeface="Times New Roman"/>
              </a:rPr>
              <a:t> </a:t>
            </a:r>
            <a:r>
              <a:rPr sz="650" b="1" dirty="0">
                <a:solidFill>
                  <a:srgbClr val="2462EB"/>
                </a:solidFill>
                <a:latin typeface="Calibri"/>
                <a:cs typeface="Calibri"/>
              </a:rPr>
              <a:t>BASIC</a:t>
            </a:r>
            <a:r>
              <a:rPr sz="650" spc="60" dirty="0">
                <a:solidFill>
                  <a:srgbClr val="2462EB"/>
                </a:solidFill>
                <a:latin typeface="Times New Roman"/>
                <a:cs typeface="Times New Roman"/>
              </a:rPr>
              <a:t> </a:t>
            </a:r>
            <a:r>
              <a:rPr sz="650" b="1" spc="-10" dirty="0">
                <a:solidFill>
                  <a:srgbClr val="2462EB"/>
                </a:solidFill>
                <a:latin typeface="Calibri"/>
                <a:cs typeface="Calibri"/>
              </a:rPr>
              <a:t>QUERY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6151" y="2184016"/>
            <a:ext cx="335216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i="1" dirty="0">
                <a:solidFill>
                  <a:srgbClr val="465469"/>
                </a:solidFill>
                <a:latin typeface="Calibri"/>
                <a:cs typeface="Calibri"/>
              </a:rPr>
              <a:t>"What</a:t>
            </a:r>
            <a:r>
              <a:rPr sz="1050" spc="-5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1050" i="1" dirty="0">
                <a:solidFill>
                  <a:srgbClr val="465469"/>
                </a:solidFill>
                <a:latin typeface="Calibri"/>
                <a:cs typeface="Calibri"/>
              </a:rPr>
              <a:t>is</a:t>
            </a:r>
            <a:r>
              <a:rPr sz="1050" spc="-3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1050" i="1" dirty="0">
                <a:solidFill>
                  <a:srgbClr val="465469"/>
                </a:solidFill>
                <a:latin typeface="Calibri"/>
                <a:cs typeface="Calibri"/>
              </a:rPr>
              <a:t>the</a:t>
            </a:r>
            <a:r>
              <a:rPr sz="1050" spc="-5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1050" i="1" dirty="0">
                <a:solidFill>
                  <a:srgbClr val="465469"/>
                </a:solidFill>
                <a:latin typeface="Calibri"/>
                <a:cs typeface="Calibri"/>
              </a:rPr>
              <a:t>real</a:t>
            </a:r>
            <a:r>
              <a:rPr sz="1050" spc="-3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1050" i="1" dirty="0">
                <a:solidFill>
                  <a:srgbClr val="465469"/>
                </a:solidFill>
                <a:latin typeface="Calibri"/>
                <a:cs typeface="Calibri"/>
              </a:rPr>
              <a:t>estate</a:t>
            </a:r>
            <a:r>
              <a:rPr sz="1050" spc="-4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1050" i="1" spc="-10" dirty="0">
                <a:solidFill>
                  <a:srgbClr val="465469"/>
                </a:solidFill>
                <a:latin typeface="Calibri"/>
                <a:cs typeface="Calibri"/>
              </a:rPr>
              <a:t>market</a:t>
            </a:r>
            <a:r>
              <a:rPr sz="1050" spc="-5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1050" i="1" dirty="0">
                <a:solidFill>
                  <a:srgbClr val="465469"/>
                </a:solidFill>
                <a:latin typeface="Calibri"/>
                <a:cs typeface="Calibri"/>
              </a:rPr>
              <a:t>like</a:t>
            </a:r>
            <a:r>
              <a:rPr sz="1050" spc="-4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1050" i="1" dirty="0">
                <a:solidFill>
                  <a:srgbClr val="465469"/>
                </a:solidFill>
                <a:latin typeface="Calibri"/>
                <a:cs typeface="Calibri"/>
              </a:rPr>
              <a:t>in</a:t>
            </a:r>
            <a:r>
              <a:rPr sz="1050" spc="-5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1050" i="1" dirty="0">
                <a:solidFill>
                  <a:srgbClr val="465469"/>
                </a:solidFill>
                <a:latin typeface="Calibri"/>
                <a:cs typeface="Calibri"/>
              </a:rPr>
              <a:t>Melbourne</a:t>
            </a:r>
            <a:r>
              <a:rPr sz="1050" spc="-4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1050" i="1" dirty="0">
                <a:solidFill>
                  <a:srgbClr val="465469"/>
                </a:solidFill>
                <a:latin typeface="Calibri"/>
                <a:cs typeface="Calibri"/>
              </a:rPr>
              <a:t>right</a:t>
            </a:r>
            <a:r>
              <a:rPr sz="1050" spc="-4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1050" i="1" spc="-10" dirty="0">
                <a:solidFill>
                  <a:srgbClr val="465469"/>
                </a:solidFill>
                <a:latin typeface="Calibri"/>
                <a:cs typeface="Calibri"/>
              </a:rPr>
              <a:t>now?"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6151" y="2755229"/>
            <a:ext cx="3392170" cy="60134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650" b="1" dirty="0">
                <a:solidFill>
                  <a:srgbClr val="2462EB"/>
                </a:solidFill>
                <a:latin typeface="Calibri"/>
                <a:cs typeface="Calibri"/>
              </a:rPr>
              <a:t>V3:</a:t>
            </a:r>
            <a:r>
              <a:rPr sz="650" spc="75" dirty="0">
                <a:solidFill>
                  <a:srgbClr val="2462EB"/>
                </a:solidFill>
                <a:latin typeface="Times New Roman"/>
                <a:cs typeface="Times New Roman"/>
              </a:rPr>
              <a:t> </a:t>
            </a:r>
            <a:r>
              <a:rPr sz="650" b="1" dirty="0">
                <a:solidFill>
                  <a:srgbClr val="2462EB"/>
                </a:solidFill>
                <a:latin typeface="Calibri"/>
                <a:cs typeface="Calibri"/>
              </a:rPr>
              <a:t>THE</a:t>
            </a:r>
            <a:r>
              <a:rPr sz="650" spc="90" dirty="0">
                <a:solidFill>
                  <a:srgbClr val="2462EB"/>
                </a:solidFill>
                <a:latin typeface="Times New Roman"/>
                <a:cs typeface="Times New Roman"/>
              </a:rPr>
              <a:t> </a:t>
            </a:r>
            <a:r>
              <a:rPr sz="650" b="1" dirty="0">
                <a:solidFill>
                  <a:srgbClr val="2462EB"/>
                </a:solidFill>
                <a:latin typeface="Calibri"/>
                <a:cs typeface="Calibri"/>
              </a:rPr>
              <a:t>PROFESSIONAL</a:t>
            </a:r>
            <a:r>
              <a:rPr sz="650" spc="105" dirty="0">
                <a:solidFill>
                  <a:srgbClr val="2462EB"/>
                </a:solidFill>
                <a:latin typeface="Times New Roman"/>
                <a:cs typeface="Times New Roman"/>
              </a:rPr>
              <a:t> </a:t>
            </a:r>
            <a:r>
              <a:rPr sz="650" b="1" spc="-20" dirty="0">
                <a:solidFill>
                  <a:srgbClr val="2462EB"/>
                </a:solidFill>
                <a:latin typeface="Calibri"/>
                <a:cs typeface="Calibri"/>
              </a:rPr>
              <a:t>SHIFT</a:t>
            </a:r>
            <a:endParaRPr sz="650">
              <a:latin typeface="Calibri"/>
              <a:cs typeface="Calibri"/>
            </a:endParaRPr>
          </a:p>
          <a:p>
            <a:pPr marL="12700" marR="5080">
              <a:lnSpc>
                <a:spcPct val="122100"/>
              </a:lnSpc>
              <a:spcBef>
                <a:spcPts val="459"/>
              </a:spcBef>
            </a:pPr>
            <a:r>
              <a:rPr sz="950" b="1" dirty="0">
                <a:solidFill>
                  <a:srgbClr val="1E293A"/>
                </a:solidFill>
                <a:latin typeface="Calibri"/>
                <a:cs typeface="Calibri"/>
              </a:rPr>
              <a:t>"Act</a:t>
            </a:r>
            <a:r>
              <a:rPr sz="950" spc="5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1E293A"/>
                </a:solidFill>
                <a:latin typeface="Calibri"/>
                <a:cs typeface="Calibri"/>
              </a:rPr>
              <a:t>as</a:t>
            </a:r>
            <a:r>
              <a:rPr sz="950" spc="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1E293A"/>
                </a:solidFill>
                <a:latin typeface="Calibri"/>
                <a:cs typeface="Calibri"/>
              </a:rPr>
              <a:t>a</a:t>
            </a:r>
            <a:r>
              <a:rPr sz="950" spc="6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1E293A"/>
                </a:solidFill>
                <a:latin typeface="Calibri"/>
                <a:cs typeface="Calibri"/>
              </a:rPr>
              <a:t>Melbourne</a:t>
            </a:r>
            <a:r>
              <a:rPr sz="950" spc="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1E293A"/>
                </a:solidFill>
                <a:latin typeface="Calibri"/>
                <a:cs typeface="Calibri"/>
              </a:rPr>
              <a:t>Real</a:t>
            </a:r>
            <a:r>
              <a:rPr sz="950" spc="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1E293A"/>
                </a:solidFill>
                <a:latin typeface="Calibri"/>
                <a:cs typeface="Calibri"/>
              </a:rPr>
              <a:t>Estate</a:t>
            </a:r>
            <a:r>
              <a:rPr sz="950" spc="8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1E293A"/>
                </a:solidFill>
                <a:latin typeface="Calibri"/>
                <a:cs typeface="Calibri"/>
              </a:rPr>
              <a:t>Analyst.</a:t>
            </a:r>
            <a:r>
              <a:rPr sz="950" spc="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1E293A"/>
                </a:solidFill>
                <a:latin typeface="Calibri"/>
                <a:cs typeface="Calibri"/>
              </a:rPr>
              <a:t>Summarize</a:t>
            </a:r>
            <a:r>
              <a:rPr sz="950" spc="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1E293A"/>
                </a:solidFill>
                <a:latin typeface="Calibri"/>
                <a:cs typeface="Calibri"/>
              </a:rPr>
              <a:t>2026</a:t>
            </a:r>
            <a:r>
              <a:rPr sz="950" spc="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950" b="1" spc="-10" dirty="0">
                <a:solidFill>
                  <a:srgbClr val="1E293A"/>
                </a:solidFill>
                <a:latin typeface="Calibri"/>
                <a:cs typeface="Calibri"/>
              </a:rPr>
              <a:t>trends</a:t>
            </a:r>
            <a:r>
              <a:rPr sz="95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1E293A"/>
                </a:solidFill>
                <a:latin typeface="Calibri"/>
                <a:cs typeface="Calibri"/>
              </a:rPr>
              <a:t>for</a:t>
            </a:r>
            <a:r>
              <a:rPr sz="950" spc="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1E293A"/>
                </a:solidFill>
                <a:latin typeface="Calibri"/>
                <a:cs typeface="Calibri"/>
              </a:rPr>
              <a:t>houses</a:t>
            </a:r>
            <a:r>
              <a:rPr sz="950" spc="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1E293A"/>
                </a:solidFill>
                <a:latin typeface="Calibri"/>
                <a:cs typeface="Calibri"/>
              </a:rPr>
              <a:t>vs.</a:t>
            </a:r>
            <a:r>
              <a:rPr sz="950" spc="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1E293A"/>
                </a:solidFill>
                <a:latin typeface="Calibri"/>
                <a:cs typeface="Calibri"/>
              </a:rPr>
              <a:t>apartments</a:t>
            </a:r>
            <a:r>
              <a:rPr sz="950" spc="6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1E293A"/>
                </a:solidFill>
                <a:latin typeface="Calibri"/>
                <a:cs typeface="Calibri"/>
              </a:rPr>
              <a:t>in</a:t>
            </a:r>
            <a:r>
              <a:rPr sz="950" spc="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1E293A"/>
                </a:solidFill>
                <a:latin typeface="Calibri"/>
                <a:cs typeface="Calibri"/>
              </a:rPr>
              <a:t>the</a:t>
            </a:r>
            <a:r>
              <a:rPr sz="950" spc="5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1E293A"/>
                </a:solidFill>
                <a:latin typeface="Calibri"/>
                <a:cs typeface="Calibri"/>
              </a:rPr>
              <a:t>South-</a:t>
            </a:r>
            <a:r>
              <a:rPr sz="950" b="1" spc="-10" dirty="0">
                <a:solidFill>
                  <a:srgbClr val="1E293A"/>
                </a:solidFill>
                <a:latin typeface="Calibri"/>
                <a:cs typeface="Calibri"/>
              </a:rPr>
              <a:t>East..."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393448" y="711708"/>
            <a:ext cx="4322445" cy="3268345"/>
            <a:chOff x="4393448" y="711708"/>
            <a:chExt cx="4322445" cy="326834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4915" y="711708"/>
              <a:ext cx="171327" cy="17144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393448" y="3550895"/>
              <a:ext cx="4322445" cy="428625"/>
            </a:xfrm>
            <a:custGeom>
              <a:avLst/>
              <a:gdLst/>
              <a:ahLst/>
              <a:cxnLst/>
              <a:rect l="l" t="t" r="r" b="b"/>
              <a:pathLst>
                <a:path w="4322445" h="428625">
                  <a:moveTo>
                    <a:pt x="4321941" y="0"/>
                  </a:moveTo>
                  <a:lnTo>
                    <a:pt x="0" y="0"/>
                  </a:lnTo>
                  <a:lnTo>
                    <a:pt x="0" y="428624"/>
                  </a:lnTo>
                  <a:lnTo>
                    <a:pt x="4321941" y="428624"/>
                  </a:lnTo>
                  <a:lnTo>
                    <a:pt x="4321941" y="0"/>
                  </a:lnTo>
                  <a:close/>
                </a:path>
              </a:pathLst>
            </a:custGeom>
            <a:solidFill>
              <a:srgbClr val="1E29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881502" y="681986"/>
            <a:ext cx="1337310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dirty="0">
                <a:solidFill>
                  <a:srgbClr val="1E293A"/>
                </a:solidFill>
                <a:latin typeface="Calibri"/>
                <a:cs typeface="Calibri"/>
              </a:rPr>
              <a:t>STRATEGIC</a:t>
            </a:r>
            <a:r>
              <a:rPr sz="1150" spc="1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50" b="1" spc="-10" dirty="0">
                <a:solidFill>
                  <a:srgbClr val="1E293A"/>
                </a:solidFill>
                <a:latin typeface="Calibri"/>
                <a:cs typeface="Calibri"/>
              </a:rPr>
              <a:t>INSIGHTS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02872" y="1061963"/>
            <a:ext cx="991235" cy="1612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b="1" dirty="0">
                <a:solidFill>
                  <a:srgbClr val="1E293A"/>
                </a:solidFill>
                <a:latin typeface="Calibri"/>
                <a:cs typeface="Calibri"/>
              </a:rPr>
              <a:t>Hyper-Local</a:t>
            </a:r>
            <a:r>
              <a:rPr sz="850" spc="1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850" b="1" spc="-10" dirty="0">
                <a:solidFill>
                  <a:srgbClr val="1E293A"/>
                </a:solidFill>
                <a:latin typeface="Calibri"/>
                <a:cs typeface="Calibri"/>
              </a:rPr>
              <a:t>Analysis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02864" y="1310459"/>
            <a:ext cx="3806190" cy="379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5000"/>
              </a:lnSpc>
              <a:spcBef>
                <a:spcPts val="95"/>
              </a:spcBef>
            </a:pPr>
            <a:r>
              <a:rPr sz="800" dirty="0">
                <a:solidFill>
                  <a:srgbClr val="465469"/>
                </a:solidFill>
                <a:latin typeface="Calibri"/>
                <a:cs typeface="Calibri"/>
              </a:rPr>
              <a:t>Moving</a:t>
            </a:r>
            <a:r>
              <a:rPr sz="800" spc="4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465469"/>
                </a:solidFill>
                <a:latin typeface="Calibri"/>
                <a:cs typeface="Calibri"/>
              </a:rPr>
              <a:t>beyond</a:t>
            </a:r>
            <a:r>
              <a:rPr sz="800" spc="6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465469"/>
                </a:solidFill>
                <a:latin typeface="Calibri"/>
                <a:cs typeface="Calibri"/>
              </a:rPr>
              <a:t>city-wide</a:t>
            </a:r>
            <a:r>
              <a:rPr sz="800" spc="5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465469"/>
                </a:solidFill>
                <a:latin typeface="Calibri"/>
                <a:cs typeface="Calibri"/>
              </a:rPr>
              <a:t>generalities</a:t>
            </a:r>
            <a:r>
              <a:rPr sz="800" spc="5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465469"/>
                </a:solidFill>
                <a:latin typeface="Calibri"/>
                <a:cs typeface="Calibri"/>
              </a:rPr>
              <a:t>to</a:t>
            </a:r>
            <a:r>
              <a:rPr sz="800" spc="3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465469"/>
                </a:solidFill>
                <a:latin typeface="Calibri"/>
                <a:cs typeface="Calibri"/>
              </a:rPr>
              <a:t>specific</a:t>
            </a:r>
            <a:r>
              <a:rPr sz="800" spc="3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465469"/>
                </a:solidFill>
                <a:latin typeface="Calibri"/>
                <a:cs typeface="Calibri"/>
              </a:rPr>
              <a:t>corridor</a:t>
            </a:r>
            <a:r>
              <a:rPr sz="800" spc="4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465469"/>
                </a:solidFill>
                <a:latin typeface="Calibri"/>
                <a:cs typeface="Calibri"/>
              </a:rPr>
              <a:t>trends</a:t>
            </a:r>
            <a:r>
              <a:rPr sz="800" spc="5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465469"/>
                </a:solidFill>
                <a:latin typeface="Calibri"/>
                <a:cs typeface="Calibri"/>
              </a:rPr>
              <a:t>(e.g.,</a:t>
            </a:r>
            <a:r>
              <a:rPr sz="800" spc="6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465469"/>
                </a:solidFill>
                <a:latin typeface="Calibri"/>
                <a:cs typeface="Calibri"/>
              </a:rPr>
              <a:t>South-East</a:t>
            </a:r>
            <a:r>
              <a:rPr sz="800" spc="6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800" spc="-10" dirty="0">
                <a:solidFill>
                  <a:srgbClr val="465469"/>
                </a:solidFill>
                <a:latin typeface="Calibri"/>
                <a:cs typeface="Calibri"/>
              </a:rPr>
              <a:t>growth</a:t>
            </a:r>
            <a:r>
              <a:rPr sz="800" spc="50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800" spc="-10" dirty="0">
                <a:solidFill>
                  <a:srgbClr val="465469"/>
                </a:solidFill>
                <a:latin typeface="Calibri"/>
                <a:cs typeface="Calibri"/>
              </a:rPr>
              <a:t>patterns).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02864" y="1847847"/>
            <a:ext cx="998219" cy="1612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b="1" dirty="0">
                <a:solidFill>
                  <a:srgbClr val="1E293A"/>
                </a:solidFill>
                <a:latin typeface="Calibri"/>
                <a:cs typeface="Calibri"/>
              </a:rPr>
              <a:t>Asset</a:t>
            </a:r>
            <a:r>
              <a:rPr sz="850" spc="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850" b="1" spc="-10" dirty="0">
                <a:solidFill>
                  <a:srgbClr val="1E293A"/>
                </a:solidFill>
                <a:latin typeface="Calibri"/>
                <a:cs typeface="Calibri"/>
              </a:rPr>
              <a:t>Differentiation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02864" y="2095309"/>
            <a:ext cx="3815715" cy="38036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800" dirty="0">
                <a:solidFill>
                  <a:srgbClr val="465469"/>
                </a:solidFill>
                <a:latin typeface="Calibri"/>
                <a:cs typeface="Calibri"/>
              </a:rPr>
              <a:t>Clear</a:t>
            </a:r>
            <a:r>
              <a:rPr sz="800" spc="2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465469"/>
                </a:solidFill>
                <a:latin typeface="Calibri"/>
                <a:cs typeface="Calibri"/>
              </a:rPr>
              <a:t>comparative</a:t>
            </a:r>
            <a:r>
              <a:rPr sz="800" spc="5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465469"/>
                </a:solidFill>
                <a:latin typeface="Calibri"/>
                <a:cs typeface="Calibri"/>
              </a:rPr>
              <a:t>data</a:t>
            </a:r>
            <a:r>
              <a:rPr sz="800" spc="4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465469"/>
                </a:solidFill>
                <a:latin typeface="Calibri"/>
                <a:cs typeface="Calibri"/>
              </a:rPr>
              <a:t>between</a:t>
            </a:r>
            <a:r>
              <a:rPr sz="800" spc="5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465469"/>
                </a:solidFill>
                <a:latin typeface="Calibri"/>
                <a:cs typeface="Calibri"/>
              </a:rPr>
              <a:t>house</a:t>
            </a:r>
            <a:r>
              <a:rPr sz="800" spc="5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465469"/>
                </a:solidFill>
                <a:latin typeface="Calibri"/>
                <a:cs typeface="Calibri"/>
              </a:rPr>
              <a:t>price</a:t>
            </a:r>
            <a:r>
              <a:rPr sz="800" spc="2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465469"/>
                </a:solidFill>
                <a:latin typeface="Calibri"/>
                <a:cs typeface="Calibri"/>
              </a:rPr>
              <a:t>resilience</a:t>
            </a:r>
            <a:r>
              <a:rPr sz="800" spc="2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465469"/>
                </a:solidFill>
                <a:latin typeface="Calibri"/>
                <a:cs typeface="Calibri"/>
              </a:rPr>
              <a:t>and</a:t>
            </a:r>
            <a:r>
              <a:rPr sz="800" spc="4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465469"/>
                </a:solidFill>
                <a:latin typeface="Calibri"/>
                <a:cs typeface="Calibri"/>
              </a:rPr>
              <a:t>apartment</a:t>
            </a:r>
            <a:r>
              <a:rPr sz="800" spc="5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465469"/>
                </a:solidFill>
                <a:latin typeface="Calibri"/>
                <a:cs typeface="Calibri"/>
              </a:rPr>
              <a:t>yields</a:t>
            </a:r>
            <a:r>
              <a:rPr sz="800" spc="3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465469"/>
                </a:solidFill>
                <a:latin typeface="Calibri"/>
                <a:cs typeface="Calibri"/>
              </a:rPr>
              <a:t>in</a:t>
            </a:r>
            <a:r>
              <a:rPr sz="800" spc="2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465469"/>
                </a:solidFill>
                <a:latin typeface="Calibri"/>
                <a:cs typeface="Calibri"/>
              </a:rPr>
              <a:t>the</a:t>
            </a:r>
            <a:r>
              <a:rPr sz="800" spc="2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800" spc="-20" dirty="0">
                <a:solidFill>
                  <a:srgbClr val="465469"/>
                </a:solidFill>
                <a:latin typeface="Calibri"/>
                <a:cs typeface="Calibri"/>
              </a:rPr>
              <a:t>2026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800" spc="-10" dirty="0">
                <a:solidFill>
                  <a:srgbClr val="465469"/>
                </a:solidFill>
                <a:latin typeface="Calibri"/>
                <a:cs typeface="Calibri"/>
              </a:rPr>
              <a:t>market.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02864" y="2633216"/>
            <a:ext cx="868680" cy="1612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b="1" dirty="0">
                <a:solidFill>
                  <a:srgbClr val="1E293A"/>
                </a:solidFill>
                <a:latin typeface="Calibri"/>
                <a:cs typeface="Calibri"/>
              </a:rPr>
              <a:t>Actionable</a:t>
            </a:r>
            <a:r>
              <a:rPr sz="850" spc="1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850" b="1" spc="-10" dirty="0">
                <a:solidFill>
                  <a:srgbClr val="1E293A"/>
                </a:solidFill>
                <a:latin typeface="Calibri"/>
                <a:cs typeface="Calibri"/>
              </a:rPr>
              <a:t>Advice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02864" y="2932301"/>
            <a:ext cx="362839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solidFill>
                  <a:srgbClr val="465469"/>
                </a:solidFill>
                <a:latin typeface="Calibri"/>
                <a:cs typeface="Calibri"/>
              </a:rPr>
              <a:t>Direct</a:t>
            </a:r>
            <a:r>
              <a:rPr sz="800" spc="3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465469"/>
                </a:solidFill>
                <a:latin typeface="Calibri"/>
                <a:cs typeface="Calibri"/>
              </a:rPr>
              <a:t>guidance</a:t>
            </a:r>
            <a:r>
              <a:rPr sz="800" spc="5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465469"/>
                </a:solidFill>
                <a:latin typeface="Calibri"/>
                <a:cs typeface="Calibri"/>
              </a:rPr>
              <a:t>for</a:t>
            </a:r>
            <a:r>
              <a:rPr sz="800" spc="3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465469"/>
                </a:solidFill>
                <a:latin typeface="Calibri"/>
                <a:cs typeface="Calibri"/>
              </a:rPr>
              <a:t>first-home</a:t>
            </a:r>
            <a:r>
              <a:rPr sz="800" spc="3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465469"/>
                </a:solidFill>
                <a:latin typeface="Calibri"/>
                <a:cs typeface="Calibri"/>
              </a:rPr>
              <a:t>buyers</a:t>
            </a:r>
            <a:r>
              <a:rPr sz="800" spc="7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465469"/>
                </a:solidFill>
                <a:latin typeface="Calibri"/>
                <a:cs typeface="Calibri"/>
              </a:rPr>
              <a:t>based</a:t>
            </a:r>
            <a:r>
              <a:rPr sz="800" spc="5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465469"/>
                </a:solidFill>
                <a:latin typeface="Calibri"/>
                <a:cs typeface="Calibri"/>
              </a:rPr>
              <a:t>on</a:t>
            </a:r>
            <a:r>
              <a:rPr sz="800" spc="5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465469"/>
                </a:solidFill>
                <a:latin typeface="Calibri"/>
                <a:cs typeface="Calibri"/>
              </a:rPr>
              <a:t>current</a:t>
            </a:r>
            <a:r>
              <a:rPr sz="800" spc="3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465469"/>
                </a:solidFill>
                <a:latin typeface="Calibri"/>
                <a:cs typeface="Calibri"/>
              </a:rPr>
              <a:t>feasibility</a:t>
            </a:r>
            <a:r>
              <a:rPr sz="800" spc="3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465469"/>
                </a:solidFill>
                <a:latin typeface="Calibri"/>
                <a:cs typeface="Calibri"/>
              </a:rPr>
              <a:t>and</a:t>
            </a:r>
            <a:r>
              <a:rPr sz="800" spc="5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465469"/>
                </a:solidFill>
                <a:latin typeface="Calibri"/>
                <a:cs typeface="Calibri"/>
              </a:rPr>
              <a:t>timing</a:t>
            </a:r>
            <a:r>
              <a:rPr sz="800" spc="1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800" spc="-10" dirty="0">
                <a:solidFill>
                  <a:srgbClr val="465469"/>
                </a:solidFill>
                <a:latin typeface="Calibri"/>
                <a:cs typeface="Calibri"/>
              </a:rPr>
              <a:t>signals.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40253" y="3633029"/>
            <a:ext cx="3935095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425" baseline="-35087" dirty="0">
                <a:solidFill>
                  <a:srgbClr val="FFFFFF"/>
                </a:solidFill>
                <a:latin typeface="Calibri"/>
                <a:cs typeface="Calibri"/>
              </a:rPr>
              <a:t>Value:</a:t>
            </a:r>
            <a:r>
              <a:rPr sz="1425" spc="502" baseline="-35087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Transforms</a:t>
            </a:r>
            <a:r>
              <a:rPr sz="95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raw</a:t>
            </a:r>
            <a:r>
              <a:rPr sz="9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sz="9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9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professional</a:t>
            </a:r>
            <a:r>
              <a:rPr sz="95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narrative</a:t>
            </a:r>
            <a:r>
              <a:rPr sz="95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9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builds</a:t>
            </a:r>
            <a:r>
              <a:rPr sz="95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client</a:t>
            </a:r>
            <a:r>
              <a:rPr sz="9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trust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42582" y="3785709"/>
            <a:ext cx="70739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5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authority.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9228" y="3538728"/>
            <a:ext cx="1543049" cy="15430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3258185"/>
            <a:chOff x="0" y="0"/>
            <a:chExt cx="9144000" cy="32581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050" y="30090"/>
              <a:ext cx="8715374" cy="322801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9144000" cy="1155700"/>
            </a:xfrm>
            <a:custGeom>
              <a:avLst/>
              <a:gdLst/>
              <a:ahLst/>
              <a:cxnLst/>
              <a:rect l="l" t="t" r="r" b="b"/>
              <a:pathLst>
                <a:path w="9144000" h="1155700">
                  <a:moveTo>
                    <a:pt x="9143999" y="0"/>
                  </a:moveTo>
                  <a:lnTo>
                    <a:pt x="0" y="0"/>
                  </a:lnTo>
                  <a:lnTo>
                    <a:pt x="0" y="1155490"/>
                  </a:lnTo>
                  <a:lnTo>
                    <a:pt x="9143999" y="1155490"/>
                  </a:lnTo>
                  <a:lnTo>
                    <a:pt x="9143999" y="0"/>
                  </a:lnTo>
                  <a:close/>
                </a:path>
              </a:pathLst>
            </a:custGeom>
            <a:solidFill>
              <a:srgbClr val="1E29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16151" y="411603"/>
            <a:ext cx="3479800" cy="3968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OPERATIONAL</a:t>
            </a:r>
            <a:r>
              <a:rPr b="0" spc="-50" dirty="0">
                <a:latin typeface="Times New Roman"/>
                <a:cs typeface="Times New Roman"/>
              </a:rPr>
              <a:t> </a:t>
            </a:r>
            <a:r>
              <a:rPr spc="-10" dirty="0"/>
              <a:t>EXCELLENCE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16151" y="867914"/>
            <a:ext cx="3324860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dirty="0">
                <a:solidFill>
                  <a:srgbClr val="2462EB"/>
                </a:solidFill>
                <a:latin typeface="Calibri"/>
                <a:cs typeface="Calibri"/>
              </a:rPr>
              <a:t>Streamlining</a:t>
            </a:r>
            <a:r>
              <a:rPr sz="1250" spc="-30" dirty="0">
                <a:solidFill>
                  <a:srgbClr val="2462EB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2462EB"/>
                </a:solidFill>
                <a:latin typeface="Calibri"/>
                <a:cs typeface="Calibri"/>
              </a:rPr>
              <a:t>Property</a:t>
            </a:r>
            <a:r>
              <a:rPr sz="1250" spc="-30" dirty="0">
                <a:solidFill>
                  <a:srgbClr val="2462EB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2462EB"/>
                </a:solidFill>
                <a:latin typeface="Calibri"/>
                <a:cs typeface="Calibri"/>
              </a:rPr>
              <a:t>Management</a:t>
            </a:r>
            <a:r>
              <a:rPr sz="1250" spc="-15" dirty="0">
                <a:solidFill>
                  <a:srgbClr val="2462EB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2462EB"/>
                </a:solidFill>
                <a:latin typeface="Calibri"/>
                <a:cs typeface="Calibri"/>
              </a:rPr>
              <a:t>&amp;</a:t>
            </a:r>
            <a:r>
              <a:rPr sz="1250" spc="5" dirty="0">
                <a:solidFill>
                  <a:srgbClr val="2462EB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2462EB"/>
                </a:solidFill>
                <a:latin typeface="Calibri"/>
                <a:cs typeface="Calibri"/>
              </a:rPr>
              <a:t>Compliance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28625" y="1255516"/>
            <a:ext cx="8286750" cy="2472055"/>
            <a:chOff x="428625" y="1255516"/>
            <a:chExt cx="8286750" cy="247205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1506" y="1255516"/>
              <a:ext cx="200018" cy="2000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07757" y="1255516"/>
              <a:ext cx="200024" cy="2000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1506" y="2393192"/>
              <a:ext cx="200018" cy="20002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07757" y="2393192"/>
              <a:ext cx="200024" cy="20002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28625" y="3295006"/>
              <a:ext cx="8286750" cy="432434"/>
            </a:xfrm>
            <a:custGeom>
              <a:avLst/>
              <a:gdLst/>
              <a:ahLst/>
              <a:cxnLst/>
              <a:rect l="l" t="t" r="r" b="b"/>
              <a:pathLst>
                <a:path w="8286750" h="432435">
                  <a:moveTo>
                    <a:pt x="8286749" y="0"/>
                  </a:moveTo>
                  <a:lnTo>
                    <a:pt x="0" y="0"/>
                  </a:lnTo>
                  <a:lnTo>
                    <a:pt x="0" y="432185"/>
                  </a:lnTo>
                  <a:lnTo>
                    <a:pt x="8286749" y="432185"/>
                  </a:lnTo>
                  <a:lnTo>
                    <a:pt x="8286749" y="0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8625" y="3295019"/>
              <a:ext cx="8286750" cy="28575"/>
            </a:xfrm>
            <a:custGeom>
              <a:avLst/>
              <a:gdLst/>
              <a:ahLst/>
              <a:cxnLst/>
              <a:rect l="l" t="t" r="r" b="b"/>
              <a:pathLst>
                <a:path w="8286750" h="28575">
                  <a:moveTo>
                    <a:pt x="8286749" y="0"/>
                  </a:moveTo>
                  <a:lnTo>
                    <a:pt x="0" y="0"/>
                  </a:lnTo>
                  <a:lnTo>
                    <a:pt x="0" y="28574"/>
                  </a:lnTo>
                  <a:lnTo>
                    <a:pt x="8286749" y="28574"/>
                  </a:lnTo>
                  <a:lnTo>
                    <a:pt x="8286749" y="0"/>
                  </a:lnTo>
                  <a:close/>
                </a:path>
              </a:pathLst>
            </a:custGeom>
            <a:solidFill>
              <a:srgbClr val="246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08818" y="1561342"/>
            <a:ext cx="3596004" cy="52705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150" b="1" dirty="0">
                <a:solidFill>
                  <a:srgbClr val="1E293A"/>
                </a:solidFill>
                <a:latin typeface="Calibri"/>
                <a:cs typeface="Calibri"/>
              </a:rPr>
              <a:t>REGULATORY</a:t>
            </a:r>
            <a:r>
              <a:rPr sz="1150" spc="204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50" b="1" spc="-10" dirty="0">
                <a:solidFill>
                  <a:srgbClr val="1E293A"/>
                </a:solidFill>
                <a:latin typeface="Calibri"/>
                <a:cs typeface="Calibri"/>
              </a:rPr>
              <a:t>COMPLIANCE</a:t>
            </a: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Clear</a:t>
            </a:r>
            <a:r>
              <a:rPr sz="950" spc="-4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guidance</a:t>
            </a:r>
            <a:r>
              <a:rPr sz="950" spc="-4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on</a:t>
            </a:r>
            <a:r>
              <a:rPr sz="950" spc="-1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Victorian</a:t>
            </a:r>
            <a:r>
              <a:rPr sz="950" spc="-2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rent</a:t>
            </a:r>
            <a:r>
              <a:rPr sz="950" spc="-3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increase</a:t>
            </a:r>
            <a:r>
              <a:rPr sz="950" spc="-6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rules</a:t>
            </a:r>
            <a:r>
              <a:rPr sz="950" spc="-4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to</a:t>
            </a:r>
            <a:r>
              <a:rPr sz="950" spc="-1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keep</a:t>
            </a:r>
            <a:r>
              <a:rPr sz="950" spc="-2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actions</a:t>
            </a:r>
            <a:r>
              <a:rPr sz="950" spc="-2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compliant.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95828" y="1561342"/>
            <a:ext cx="2999105" cy="52705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150" b="1" dirty="0">
                <a:solidFill>
                  <a:srgbClr val="1E293A"/>
                </a:solidFill>
                <a:latin typeface="Calibri"/>
                <a:cs typeface="Calibri"/>
              </a:rPr>
              <a:t>PROFESSIONAL</a:t>
            </a:r>
            <a:r>
              <a:rPr sz="1150" spc="2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50" b="1" spc="-10" dirty="0">
                <a:solidFill>
                  <a:srgbClr val="1E293A"/>
                </a:solidFill>
                <a:latin typeface="Calibri"/>
                <a:cs typeface="Calibri"/>
              </a:rPr>
              <a:t>COMMUNICATION</a:t>
            </a: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Automated,</a:t>
            </a:r>
            <a:r>
              <a:rPr sz="950" spc="-3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polite</a:t>
            </a:r>
            <a:r>
              <a:rPr sz="950" spc="-2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tenant</a:t>
            </a:r>
            <a:r>
              <a:rPr sz="950" spc="-3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notices</a:t>
            </a:r>
            <a:r>
              <a:rPr sz="950" spc="-1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that</a:t>
            </a:r>
            <a:r>
              <a:rPr sz="950" spc="-1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preserve</a:t>
            </a:r>
            <a:r>
              <a:rPr sz="950" spc="-5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relationships.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8818" y="2699994"/>
            <a:ext cx="2313940" cy="52641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150" b="1" dirty="0">
                <a:solidFill>
                  <a:srgbClr val="1E293A"/>
                </a:solidFill>
                <a:latin typeface="Calibri"/>
                <a:cs typeface="Calibri"/>
              </a:rPr>
              <a:t>MAINTENANCE</a:t>
            </a:r>
            <a:r>
              <a:rPr sz="1150" spc="2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50" b="1" spc="-10" dirty="0">
                <a:solidFill>
                  <a:srgbClr val="1E293A"/>
                </a:solidFill>
                <a:latin typeface="Calibri"/>
                <a:cs typeface="Calibri"/>
              </a:rPr>
              <a:t>EFFICIENCY</a:t>
            </a: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Fast,</a:t>
            </a:r>
            <a:r>
              <a:rPr sz="950" spc="-1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structured</a:t>
            </a:r>
            <a:r>
              <a:rPr sz="950" spc="-3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work</a:t>
            </a:r>
            <a:r>
              <a:rPr sz="950" spc="-2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orders</a:t>
            </a:r>
            <a:r>
              <a:rPr sz="950" spc="-5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for</a:t>
            </a:r>
            <a:r>
              <a:rPr sz="950" spc="-2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urgent</a:t>
            </a:r>
            <a:r>
              <a:rPr sz="950" spc="-4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repairs.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95828" y="2699994"/>
            <a:ext cx="2815590" cy="52641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150" b="1" dirty="0">
                <a:solidFill>
                  <a:srgbClr val="1E293A"/>
                </a:solidFill>
                <a:latin typeface="Calibri"/>
                <a:cs typeface="Calibri"/>
              </a:rPr>
              <a:t>RISK</a:t>
            </a:r>
            <a:r>
              <a:rPr sz="1150" spc="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50" b="1" spc="-10" dirty="0">
                <a:solidFill>
                  <a:srgbClr val="1E293A"/>
                </a:solidFill>
                <a:latin typeface="Calibri"/>
                <a:cs typeface="Calibri"/>
              </a:rPr>
              <a:t>MITIGATION</a:t>
            </a: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Standard</a:t>
            </a:r>
            <a:r>
              <a:rPr sz="950" spc="-4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workflows</a:t>
            </a:r>
            <a:r>
              <a:rPr sz="950" spc="-4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to</a:t>
            </a:r>
            <a:r>
              <a:rPr sz="950" spc="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reduce</a:t>
            </a:r>
            <a:r>
              <a:rPr sz="950" spc="-5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errors</a:t>
            </a:r>
            <a:r>
              <a:rPr sz="950" spc="-5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across</a:t>
            </a:r>
            <a:r>
              <a:rPr sz="950" spc="-5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the</a:t>
            </a:r>
            <a:r>
              <a:rPr sz="950" spc="-2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portfolio.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8625" y="3349496"/>
            <a:ext cx="8286750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35"/>
              </a:spcBef>
            </a:pPr>
            <a:r>
              <a:rPr sz="950" b="1" dirty="0">
                <a:solidFill>
                  <a:srgbClr val="1E293A"/>
                </a:solidFill>
                <a:latin typeface="Calibri"/>
                <a:cs typeface="Calibri"/>
              </a:rPr>
              <a:t>Benefit:</a:t>
            </a:r>
            <a:r>
              <a:rPr sz="950" spc="7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1E293A"/>
                </a:solidFill>
                <a:latin typeface="Calibri"/>
                <a:cs typeface="Calibri"/>
              </a:rPr>
              <a:t>Reduces</a:t>
            </a:r>
            <a:r>
              <a:rPr sz="950" spc="6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1E293A"/>
                </a:solidFill>
                <a:latin typeface="Calibri"/>
                <a:cs typeface="Calibri"/>
              </a:rPr>
              <a:t>legal</a:t>
            </a:r>
            <a:r>
              <a:rPr sz="950" spc="5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1E293A"/>
                </a:solidFill>
                <a:latin typeface="Calibri"/>
                <a:cs typeface="Calibri"/>
              </a:rPr>
              <a:t>risk</a:t>
            </a:r>
            <a:r>
              <a:rPr sz="950" spc="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1E293A"/>
                </a:solidFill>
                <a:latin typeface="Calibri"/>
                <a:cs typeface="Calibri"/>
              </a:rPr>
              <a:t>and</a:t>
            </a:r>
            <a:r>
              <a:rPr sz="950" spc="5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1E293A"/>
                </a:solidFill>
                <a:latin typeface="Calibri"/>
                <a:cs typeface="Calibri"/>
              </a:rPr>
              <a:t>improves</a:t>
            </a:r>
            <a:r>
              <a:rPr sz="950" spc="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1E293A"/>
                </a:solidFill>
                <a:latin typeface="Calibri"/>
                <a:cs typeface="Calibri"/>
              </a:rPr>
              <a:t>operational</a:t>
            </a:r>
            <a:r>
              <a:rPr sz="950" spc="5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1E293A"/>
                </a:solidFill>
                <a:latin typeface="Calibri"/>
                <a:cs typeface="Calibri"/>
              </a:rPr>
              <a:t>efficiency</a:t>
            </a:r>
            <a:r>
              <a:rPr sz="950" spc="7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1E293A"/>
                </a:solidFill>
                <a:latin typeface="Calibri"/>
                <a:cs typeface="Calibri"/>
              </a:rPr>
              <a:t>by</a:t>
            </a:r>
            <a:r>
              <a:rPr sz="950" spc="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1E293A"/>
                </a:solidFill>
                <a:latin typeface="Calibri"/>
                <a:cs typeface="Calibri"/>
              </a:rPr>
              <a:t>40%</a:t>
            </a:r>
            <a:r>
              <a:rPr sz="950" spc="6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1E293A"/>
                </a:solidFill>
                <a:latin typeface="Calibri"/>
                <a:cs typeface="Calibri"/>
              </a:rPr>
              <a:t>through</a:t>
            </a:r>
            <a:r>
              <a:rPr sz="950" spc="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1E293A"/>
                </a:solidFill>
                <a:latin typeface="Calibri"/>
                <a:cs typeface="Calibri"/>
              </a:rPr>
              <a:t>standardized</a:t>
            </a:r>
            <a:r>
              <a:rPr sz="950" spc="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1E293A"/>
                </a:solidFill>
                <a:latin typeface="Calibri"/>
                <a:cs typeface="Calibri"/>
              </a:rPr>
              <a:t>AI-driven</a:t>
            </a:r>
            <a:r>
              <a:rPr sz="950" spc="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950" b="1" spc="-10" dirty="0">
                <a:solidFill>
                  <a:srgbClr val="1E293A"/>
                </a:solidFill>
                <a:latin typeface="Calibri"/>
                <a:cs typeface="Calibri"/>
              </a:rPr>
              <a:t>workflows.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539228" y="3538728"/>
            <a:ext cx="1543049" cy="15430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800600" cy="5143500"/>
            <a:chOff x="0" y="0"/>
            <a:chExt cx="48006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050" y="858519"/>
              <a:ext cx="4400549" cy="399931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4358005" cy="5143500"/>
            </a:xfrm>
            <a:custGeom>
              <a:avLst/>
              <a:gdLst/>
              <a:ahLst/>
              <a:cxnLst/>
              <a:rect l="l" t="t" r="r" b="b"/>
              <a:pathLst>
                <a:path w="4358005" h="5143500">
                  <a:moveTo>
                    <a:pt x="4357755" y="0"/>
                  </a:moveTo>
                  <a:lnTo>
                    <a:pt x="0" y="0"/>
                  </a:lnTo>
                  <a:lnTo>
                    <a:pt x="0" y="5143499"/>
                  </a:lnTo>
                  <a:lnTo>
                    <a:pt x="4357755" y="5143499"/>
                  </a:lnTo>
                  <a:lnTo>
                    <a:pt x="4357755" y="0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16151" y="393315"/>
            <a:ext cx="1901189" cy="115951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15"/>
              </a:spcBef>
            </a:pPr>
            <a:r>
              <a:rPr dirty="0">
                <a:solidFill>
                  <a:srgbClr val="1E293A"/>
                </a:solidFill>
              </a:rPr>
              <a:t>HIGH-</a:t>
            </a:r>
            <a:r>
              <a:rPr spc="-10" dirty="0">
                <a:solidFill>
                  <a:srgbClr val="1E293A"/>
                </a:solidFill>
              </a:rPr>
              <a:t>IMPACT</a:t>
            </a:r>
            <a:r>
              <a:rPr b="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1E293A"/>
                </a:solidFill>
              </a:rPr>
              <a:t>MARKETING</a:t>
            </a:r>
            <a:r>
              <a:rPr b="0" spc="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pc="-50" dirty="0">
                <a:solidFill>
                  <a:srgbClr val="1E293A"/>
                </a:solidFill>
              </a:rPr>
              <a:t>&amp;</a:t>
            </a:r>
            <a:r>
              <a:rPr b="0" spc="-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1E293A"/>
                </a:solidFill>
              </a:rPr>
              <a:t>COPYWRITING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607231" y="1902966"/>
            <a:ext cx="200025" cy="1731010"/>
            <a:chOff x="607231" y="1902966"/>
            <a:chExt cx="200025" cy="173101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7231" y="1902966"/>
              <a:ext cx="200018" cy="20002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7231" y="3433572"/>
              <a:ext cx="200018" cy="2000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94769" y="2349751"/>
            <a:ext cx="3403600" cy="720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dirty="0">
                <a:solidFill>
                  <a:srgbClr val="1E293A"/>
                </a:solidFill>
                <a:latin typeface="Calibri"/>
                <a:cs typeface="Calibri"/>
              </a:rPr>
              <a:t>PROPERTY</a:t>
            </a:r>
            <a:r>
              <a:rPr sz="1150" spc="16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50" b="1" spc="-10" dirty="0">
                <a:solidFill>
                  <a:srgbClr val="1E293A"/>
                </a:solidFill>
                <a:latin typeface="Calibri"/>
                <a:cs typeface="Calibri"/>
              </a:rPr>
              <a:t>LISTINGS</a:t>
            </a:r>
            <a:endParaRPr sz="1150">
              <a:latin typeface="Calibri"/>
              <a:cs typeface="Calibri"/>
            </a:endParaRPr>
          </a:p>
          <a:p>
            <a:pPr marL="12700" marR="5080">
              <a:lnSpc>
                <a:spcPct val="131600"/>
              </a:lnSpc>
              <a:spcBef>
                <a:spcPts val="1050"/>
              </a:spcBef>
            </a:pP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Engaging</a:t>
            </a:r>
            <a:r>
              <a:rPr sz="950" spc="-5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copy</a:t>
            </a:r>
            <a:r>
              <a:rPr sz="950" spc="-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for</a:t>
            </a:r>
            <a:r>
              <a:rPr sz="950" spc="-2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Richmond</a:t>
            </a:r>
            <a:r>
              <a:rPr sz="950" spc="-1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terraces,</a:t>
            </a:r>
            <a:r>
              <a:rPr sz="950" spc="-3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highlighting</a:t>
            </a:r>
            <a:r>
              <a:rPr sz="950" spc="-5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lifestyle,</a:t>
            </a:r>
            <a:r>
              <a:rPr sz="950" spc="-3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cafes,</a:t>
            </a:r>
            <a:r>
              <a:rPr sz="950" spc="-2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25" dirty="0">
                <a:solidFill>
                  <a:srgbClr val="465469"/>
                </a:solidFill>
                <a:latin typeface="Calibri"/>
                <a:cs typeface="Calibri"/>
              </a:rPr>
              <a:t>and</a:t>
            </a:r>
            <a:r>
              <a:rPr sz="950" spc="-2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proximity</a:t>
            </a:r>
            <a:r>
              <a:rPr sz="950" spc="-5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to</a:t>
            </a:r>
            <a:r>
              <a:rPr sz="950" spc="-2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the</a:t>
            </a:r>
            <a:r>
              <a:rPr sz="950" spc="-3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MCG</a:t>
            </a:r>
            <a:r>
              <a:rPr sz="950" spc="-4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to</a:t>
            </a:r>
            <a:r>
              <a:rPr sz="950" spc="-1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capture</a:t>
            </a:r>
            <a:r>
              <a:rPr sz="950" spc="-6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buyer</a:t>
            </a:r>
            <a:r>
              <a:rPr sz="950" spc="-4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interest.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4769" y="3880809"/>
            <a:ext cx="3608704" cy="7194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dirty="0">
                <a:solidFill>
                  <a:srgbClr val="1E293A"/>
                </a:solidFill>
                <a:latin typeface="Calibri"/>
                <a:cs typeface="Calibri"/>
              </a:rPr>
              <a:t>SOCIAL</a:t>
            </a:r>
            <a:r>
              <a:rPr sz="1150" spc="9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50" b="1" dirty="0">
                <a:solidFill>
                  <a:srgbClr val="1E293A"/>
                </a:solidFill>
                <a:latin typeface="Calibri"/>
                <a:cs typeface="Calibri"/>
              </a:rPr>
              <a:t>MEDIA</a:t>
            </a:r>
            <a:r>
              <a:rPr sz="1150" spc="8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50" b="1" spc="-10" dirty="0">
                <a:solidFill>
                  <a:srgbClr val="1E293A"/>
                </a:solidFill>
                <a:latin typeface="Calibri"/>
                <a:cs typeface="Calibri"/>
              </a:rPr>
              <a:t>STRATEGY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3-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day</a:t>
            </a:r>
            <a:r>
              <a:rPr sz="950" spc="-3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content</a:t>
            </a:r>
            <a:r>
              <a:rPr sz="950" spc="-3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plans</a:t>
            </a:r>
            <a:r>
              <a:rPr sz="950" spc="-3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for</a:t>
            </a:r>
            <a:r>
              <a:rPr sz="950" spc="-2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Fitzroy</a:t>
            </a:r>
            <a:r>
              <a:rPr sz="950" spc="-1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apartments,</a:t>
            </a:r>
            <a:r>
              <a:rPr sz="950" spc="-3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including</a:t>
            </a:r>
            <a:r>
              <a:rPr sz="950" spc="-4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teasers,</a:t>
            </a:r>
            <a:r>
              <a:rPr sz="950" spc="-3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video</a:t>
            </a:r>
            <a:r>
              <a:rPr sz="950" spc="-2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ideas,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and</a:t>
            </a:r>
            <a:r>
              <a:rPr sz="950" spc="-2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open</a:t>
            </a:r>
            <a:r>
              <a:rPr sz="950" spc="-3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house</a:t>
            </a:r>
            <a:r>
              <a:rPr sz="950" spc="-6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invites</a:t>
            </a:r>
            <a:r>
              <a:rPr sz="950" spc="-5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with</a:t>
            </a:r>
            <a:r>
              <a:rPr sz="950" spc="-1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targeted</a:t>
            </a:r>
            <a:r>
              <a:rPr sz="950" spc="-5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hashtags.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64948" y="914384"/>
            <a:ext cx="200024" cy="20002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953130" y="1360370"/>
            <a:ext cx="1395730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spc="-10" dirty="0">
                <a:solidFill>
                  <a:srgbClr val="1E293A"/>
                </a:solidFill>
                <a:latin typeface="Calibri"/>
                <a:cs typeface="Calibri"/>
              </a:rPr>
              <a:t>SPECIALIST</a:t>
            </a:r>
            <a:r>
              <a:rPr sz="1200" spc="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1E293A"/>
                </a:solidFill>
                <a:latin typeface="Calibri"/>
                <a:cs typeface="Calibri"/>
              </a:rPr>
              <a:t>STRATEGY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53130" y="1673805"/>
            <a:ext cx="36576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600"/>
              </a:lnSpc>
              <a:spcBef>
                <a:spcPts val="100"/>
              </a:spcBef>
            </a:pP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Moving</a:t>
            </a:r>
            <a:r>
              <a:rPr sz="950" spc="-6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from</a:t>
            </a:r>
            <a:r>
              <a:rPr sz="950" spc="-3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"Write</a:t>
            </a:r>
            <a:r>
              <a:rPr sz="950" spc="-5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a</a:t>
            </a:r>
            <a:r>
              <a:rPr sz="950" spc="-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post"</a:t>
            </a:r>
            <a:r>
              <a:rPr sz="950" spc="-4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to</a:t>
            </a:r>
            <a:r>
              <a:rPr sz="950" spc="-1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a</a:t>
            </a:r>
            <a:r>
              <a:rPr sz="950" spc="-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specialist</a:t>
            </a:r>
            <a:r>
              <a:rPr sz="950" spc="-5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strategy</a:t>
            </a:r>
            <a:r>
              <a:rPr sz="950" spc="-5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that</a:t>
            </a:r>
            <a:r>
              <a:rPr sz="950" spc="-2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drives</a:t>
            </a:r>
            <a:r>
              <a:rPr sz="950" spc="-5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engagement</a:t>
            </a:r>
            <a:r>
              <a:rPr sz="950" spc="-1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and</a:t>
            </a:r>
            <a:r>
              <a:rPr sz="950" spc="-1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builds</a:t>
            </a:r>
            <a:r>
              <a:rPr sz="950" spc="-4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a</a:t>
            </a:r>
            <a:r>
              <a:rPr sz="950" spc="-1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strong</a:t>
            </a:r>
            <a:r>
              <a:rPr sz="950" spc="-4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online</a:t>
            </a:r>
            <a:r>
              <a:rPr sz="950" spc="-3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presence.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64948" y="2252091"/>
            <a:ext cx="250019" cy="20002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953130" y="2698748"/>
            <a:ext cx="3681729" cy="720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dirty="0">
                <a:solidFill>
                  <a:srgbClr val="1E293A"/>
                </a:solidFill>
                <a:latin typeface="Calibri"/>
                <a:cs typeface="Calibri"/>
              </a:rPr>
              <a:t>ENGAGEMENT</a:t>
            </a:r>
            <a:r>
              <a:rPr sz="1150" spc="2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50" b="1" spc="-10" dirty="0">
                <a:solidFill>
                  <a:srgbClr val="1E293A"/>
                </a:solidFill>
                <a:latin typeface="Calibri"/>
                <a:cs typeface="Calibri"/>
              </a:rPr>
              <a:t>FOCUS</a:t>
            </a:r>
            <a:endParaRPr sz="1150">
              <a:latin typeface="Calibri"/>
              <a:cs typeface="Calibri"/>
            </a:endParaRPr>
          </a:p>
          <a:p>
            <a:pPr marL="12700" marR="5080">
              <a:lnSpc>
                <a:spcPct val="131600"/>
              </a:lnSpc>
              <a:spcBef>
                <a:spcPts val="1050"/>
              </a:spcBef>
            </a:pP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Refined</a:t>
            </a:r>
            <a:r>
              <a:rPr sz="950" spc="-4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prompts</a:t>
            </a:r>
            <a:r>
              <a:rPr sz="950" spc="-4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ensure</a:t>
            </a:r>
            <a:r>
              <a:rPr sz="950" spc="-6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that</a:t>
            </a:r>
            <a:r>
              <a:rPr sz="950" spc="-2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every</a:t>
            </a:r>
            <a:r>
              <a:rPr sz="950" spc="-4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piece</a:t>
            </a:r>
            <a:r>
              <a:rPr sz="950" spc="-2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of</a:t>
            </a:r>
            <a:r>
              <a:rPr sz="950" spc="-2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content</a:t>
            </a:r>
            <a:r>
              <a:rPr sz="950" spc="-2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is</a:t>
            </a:r>
            <a:r>
              <a:rPr sz="950" spc="-3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tailored</a:t>
            </a:r>
            <a:r>
              <a:rPr sz="950" spc="-4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to</a:t>
            </a:r>
            <a:r>
              <a:rPr sz="950" spc="-2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the</a:t>
            </a:r>
            <a:r>
              <a:rPr sz="950" spc="-2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target</a:t>
            </a:r>
            <a:r>
              <a:rPr sz="950" spc="-1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audience,</a:t>
            </a:r>
            <a:r>
              <a:rPr sz="950" spc="-3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increasing</a:t>
            </a:r>
            <a:r>
              <a:rPr sz="950" spc="-5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reach</a:t>
            </a:r>
            <a:r>
              <a:rPr sz="950" spc="-1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and</a:t>
            </a:r>
            <a:r>
              <a:rPr sz="950" spc="-1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conversion.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86365" y="3768327"/>
            <a:ext cx="3929379" cy="557530"/>
          </a:xfrm>
          <a:prstGeom prst="rect">
            <a:avLst/>
          </a:prstGeom>
          <a:solidFill>
            <a:srgbClr val="1E293A"/>
          </a:solidFill>
        </p:spPr>
        <p:txBody>
          <a:bodyPr vert="horz" wrap="square" lIns="0" tIns="67945" rIns="0" bIns="0" rtlCol="0">
            <a:spAutoFit/>
          </a:bodyPr>
          <a:lstStyle/>
          <a:p>
            <a:pPr marL="214629" marR="227329" indent="376555">
              <a:lnSpc>
                <a:spcPct val="108600"/>
              </a:lnSpc>
              <a:spcBef>
                <a:spcPts val="535"/>
              </a:spcBef>
            </a:pP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Elevates</a:t>
            </a:r>
            <a:r>
              <a:rPr sz="95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9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brand's</a:t>
            </a:r>
            <a:r>
              <a:rPr sz="9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voice</a:t>
            </a:r>
            <a:r>
              <a:rPr sz="9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ensures</a:t>
            </a:r>
            <a:r>
              <a:rPr sz="95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consistent,</a:t>
            </a:r>
            <a:r>
              <a:rPr sz="95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high-quality</a:t>
            </a:r>
            <a:r>
              <a:rPr sz="9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Value:</a:t>
            </a:r>
            <a:r>
              <a:rPr sz="950" spc="2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25" spc="-15" baseline="2923" dirty="0">
                <a:solidFill>
                  <a:srgbClr val="FFFFFF"/>
                </a:solidFill>
                <a:latin typeface="Calibri"/>
                <a:cs typeface="Calibri"/>
              </a:rPr>
              <a:t>marketing</a:t>
            </a:r>
            <a:r>
              <a:rPr sz="1425" spc="-82" baseline="292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25" spc="-15" baseline="2923" dirty="0">
                <a:solidFill>
                  <a:srgbClr val="FFFFFF"/>
                </a:solidFill>
                <a:latin typeface="Calibri"/>
                <a:cs typeface="Calibri"/>
              </a:rPr>
              <a:t>across</a:t>
            </a:r>
            <a:r>
              <a:rPr sz="1425" spc="-104" baseline="292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25" baseline="2923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425" spc="-52" baseline="292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25" spc="-15" baseline="2923" dirty="0">
                <a:solidFill>
                  <a:srgbClr val="FFFFFF"/>
                </a:solidFill>
                <a:latin typeface="Calibri"/>
                <a:cs typeface="Calibri"/>
              </a:rPr>
              <a:t>channels.</a:t>
            </a:r>
            <a:endParaRPr sz="1425" baseline="2923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539228" y="3538728"/>
            <a:ext cx="1543049" cy="15430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050" y="1601249"/>
            <a:ext cx="8343899" cy="5713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9144000" cy="1327150"/>
          </a:xfrm>
          <a:custGeom>
            <a:avLst/>
            <a:gdLst/>
            <a:ahLst/>
            <a:cxnLst/>
            <a:rect l="l" t="t" r="r" b="b"/>
            <a:pathLst>
              <a:path w="9144000" h="1327150">
                <a:moveTo>
                  <a:pt x="9143999" y="0"/>
                </a:moveTo>
                <a:lnTo>
                  <a:pt x="0" y="0"/>
                </a:lnTo>
                <a:lnTo>
                  <a:pt x="0" y="1326891"/>
                </a:lnTo>
                <a:lnTo>
                  <a:pt x="9143999" y="1326891"/>
                </a:lnTo>
                <a:lnTo>
                  <a:pt x="9143999" y="0"/>
                </a:lnTo>
                <a:close/>
              </a:path>
            </a:pathLst>
          </a:custGeom>
          <a:solidFill>
            <a:srgbClr val="1E29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6151" y="411603"/>
            <a:ext cx="2082164" cy="3968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SALES</a:t>
            </a:r>
            <a:r>
              <a:rPr b="0" spc="-65" dirty="0">
                <a:latin typeface="Times New Roman"/>
                <a:cs typeface="Times New Roman"/>
              </a:rPr>
              <a:t> </a:t>
            </a:r>
            <a:r>
              <a:rPr spc="-10" dirty="0"/>
              <a:t>MASTERY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6151" y="882138"/>
            <a:ext cx="226377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dirty="0">
                <a:solidFill>
                  <a:srgbClr val="2462EB"/>
                </a:solidFill>
                <a:latin typeface="Calibri"/>
                <a:cs typeface="Calibri"/>
              </a:rPr>
              <a:t>Driving</a:t>
            </a:r>
            <a:r>
              <a:rPr sz="1250" spc="-40" dirty="0">
                <a:solidFill>
                  <a:srgbClr val="2462EB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2462EB"/>
                </a:solidFill>
                <a:latin typeface="Calibri"/>
                <a:cs typeface="Calibri"/>
              </a:rPr>
              <a:t>Results</a:t>
            </a:r>
            <a:r>
              <a:rPr sz="1250" spc="-25" dirty="0">
                <a:solidFill>
                  <a:srgbClr val="2462EB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2462EB"/>
                </a:solidFill>
                <a:latin typeface="Calibri"/>
                <a:cs typeface="Calibri"/>
              </a:rPr>
              <a:t>at</a:t>
            </a:r>
            <a:r>
              <a:rPr sz="1250" spc="-5" dirty="0">
                <a:solidFill>
                  <a:srgbClr val="2462EB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2462EB"/>
                </a:solidFill>
                <a:latin typeface="Calibri"/>
                <a:cs typeface="Calibri"/>
              </a:rPr>
              <a:t>the</a:t>
            </a:r>
            <a:r>
              <a:rPr sz="1250" spc="-20" dirty="0">
                <a:solidFill>
                  <a:srgbClr val="2462EB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2462EB"/>
                </a:solidFill>
                <a:latin typeface="Calibri"/>
                <a:cs typeface="Calibri"/>
              </a:rPr>
              <a:t>Point</a:t>
            </a:r>
            <a:r>
              <a:rPr sz="1250" spc="-45" dirty="0">
                <a:solidFill>
                  <a:srgbClr val="2462EB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2462EB"/>
                </a:solidFill>
                <a:latin typeface="Calibri"/>
                <a:cs typeface="Calibri"/>
              </a:rPr>
              <a:t>of</a:t>
            </a:r>
            <a:r>
              <a:rPr sz="1250" spc="-5" dirty="0">
                <a:solidFill>
                  <a:srgbClr val="2462EB"/>
                </a:solidFill>
                <a:latin typeface="Times New Roman"/>
                <a:cs typeface="Times New Roman"/>
              </a:rPr>
              <a:t> </a:t>
            </a:r>
            <a:r>
              <a:rPr sz="1250" spc="-20" dirty="0">
                <a:solidFill>
                  <a:srgbClr val="2462EB"/>
                </a:solidFill>
                <a:latin typeface="Calibri"/>
                <a:cs typeface="Calibri"/>
              </a:rPr>
              <a:t>Sale</a:t>
            </a:r>
            <a:endParaRPr sz="125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8625" y="1812676"/>
            <a:ext cx="228599" cy="2285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16151" y="2334003"/>
            <a:ext cx="1054100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10" dirty="0">
                <a:solidFill>
                  <a:srgbClr val="1E293A"/>
                </a:solidFill>
                <a:latin typeface="Calibri"/>
                <a:cs typeface="Calibri"/>
              </a:rPr>
              <a:t>AUCTION</a:t>
            </a:r>
            <a:r>
              <a:rPr sz="11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b="1" spc="-10" dirty="0">
                <a:solidFill>
                  <a:srgbClr val="1E293A"/>
                </a:solidFill>
                <a:latin typeface="Calibri"/>
                <a:cs typeface="Calibri"/>
              </a:rPr>
              <a:t>SCRIPTS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6151" y="2625926"/>
            <a:ext cx="2371725" cy="597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600"/>
              </a:lnSpc>
              <a:spcBef>
                <a:spcPts val="100"/>
              </a:spcBef>
            </a:pP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Dynamic</a:t>
            </a:r>
            <a:r>
              <a:rPr sz="950" spc="-3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openings</a:t>
            </a:r>
            <a:r>
              <a:rPr sz="950" spc="-4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for</a:t>
            </a:r>
            <a:r>
              <a:rPr sz="950" spc="-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McKinnon</a:t>
            </a:r>
            <a:r>
              <a:rPr sz="950" spc="-2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School</a:t>
            </a:r>
            <a:r>
              <a:rPr sz="95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20" dirty="0">
                <a:solidFill>
                  <a:srgbClr val="465469"/>
                </a:solidFill>
                <a:latin typeface="Calibri"/>
                <a:cs typeface="Calibri"/>
              </a:rPr>
              <a:t>Zone</a:t>
            </a:r>
            <a:r>
              <a:rPr sz="950" spc="-2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homes,</a:t>
            </a:r>
            <a:r>
              <a:rPr sz="950" spc="-3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including</a:t>
            </a:r>
            <a:r>
              <a:rPr sz="950" spc="-3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strategic</a:t>
            </a:r>
            <a:r>
              <a:rPr sz="950" spc="-4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phrases</a:t>
            </a:r>
            <a:r>
              <a:rPr sz="950" spc="-4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to</a:t>
            </a:r>
            <a:r>
              <a:rPr sz="95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encourage</a:t>
            </a:r>
            <a:r>
              <a:rPr sz="950" spc="-1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bidding</a:t>
            </a:r>
            <a:r>
              <a:rPr sz="950" spc="-4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and</a:t>
            </a:r>
            <a:r>
              <a:rPr sz="950" spc="-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build</a:t>
            </a:r>
            <a:r>
              <a:rPr sz="950" spc="-2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momentum.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29056" y="1812676"/>
            <a:ext cx="285749" cy="2285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316988" y="2334003"/>
            <a:ext cx="1328420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10" dirty="0">
                <a:solidFill>
                  <a:srgbClr val="1E293A"/>
                </a:solidFill>
                <a:latin typeface="Calibri"/>
                <a:cs typeface="Calibri"/>
              </a:rPr>
              <a:t>OBJECTION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b="1" spc="-10" dirty="0">
                <a:solidFill>
                  <a:srgbClr val="1E293A"/>
                </a:solidFill>
                <a:latin typeface="Calibri"/>
                <a:cs typeface="Calibri"/>
              </a:rPr>
              <a:t>HANDLING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16988" y="2625926"/>
            <a:ext cx="2501265" cy="597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600"/>
              </a:lnSpc>
              <a:spcBef>
                <a:spcPts val="100"/>
              </a:spcBef>
            </a:pP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Calm,</a:t>
            </a:r>
            <a:r>
              <a:rPr sz="950" spc="-2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value-based</a:t>
            </a:r>
            <a:r>
              <a:rPr sz="950" spc="-3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responses</a:t>
            </a:r>
            <a:r>
              <a:rPr sz="950" spc="-6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for</a:t>
            </a:r>
            <a:r>
              <a:rPr sz="95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price-sensitive</a:t>
            </a:r>
            <a:r>
              <a:rPr sz="950" spc="-1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buyers</a:t>
            </a:r>
            <a:r>
              <a:rPr sz="950" spc="-6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in</a:t>
            </a:r>
            <a:r>
              <a:rPr sz="950" spc="-1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Point</a:t>
            </a:r>
            <a:r>
              <a:rPr sz="950" spc="-2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Cook,</a:t>
            </a:r>
            <a:r>
              <a:rPr sz="950" spc="-2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focusing</a:t>
            </a:r>
            <a:r>
              <a:rPr sz="950" spc="-4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on</a:t>
            </a:r>
            <a:r>
              <a:rPr sz="950" spc="-1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long-term</a:t>
            </a:r>
            <a:r>
              <a:rPr sz="950" spc="-6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capital</a:t>
            </a:r>
            <a:r>
              <a:rPr sz="950" spc="-1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growth</a:t>
            </a:r>
            <a:r>
              <a:rPr sz="950" spc="-3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and</a:t>
            </a:r>
            <a:r>
              <a:rPr sz="950" spc="-2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lifestyle.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29350" y="1812676"/>
            <a:ext cx="171449" cy="22859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217670" y="2334003"/>
            <a:ext cx="1081405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10" dirty="0">
                <a:solidFill>
                  <a:srgbClr val="1E293A"/>
                </a:solidFill>
                <a:latin typeface="Calibri"/>
                <a:cs typeface="Calibri"/>
              </a:rPr>
              <a:t>VENDOR</a:t>
            </a:r>
            <a:r>
              <a:rPr sz="11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b="1" spc="-10" dirty="0">
                <a:solidFill>
                  <a:srgbClr val="1E293A"/>
                </a:solidFill>
                <a:latin typeface="Calibri"/>
                <a:cs typeface="Calibri"/>
              </a:rPr>
              <a:t>REPORTS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17670" y="2625926"/>
            <a:ext cx="2265680" cy="597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600"/>
              </a:lnSpc>
              <a:spcBef>
                <a:spcPts val="100"/>
              </a:spcBef>
            </a:pP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Professional</a:t>
            </a:r>
            <a:r>
              <a:rPr sz="950" spc="-5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weekly</a:t>
            </a:r>
            <a:r>
              <a:rPr sz="950" spc="-1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updates</a:t>
            </a:r>
            <a:r>
              <a:rPr sz="950" spc="-3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for</a:t>
            </a:r>
            <a:r>
              <a:rPr sz="950" spc="-1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Brighton</a:t>
            </a:r>
            <a:r>
              <a:rPr sz="950" spc="-1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homeowners,</a:t>
            </a:r>
            <a:r>
              <a:rPr sz="950" spc="-4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detailing</a:t>
            </a:r>
            <a:r>
              <a:rPr sz="950" spc="-2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visitor</a:t>
            </a:r>
            <a:r>
              <a:rPr sz="950" spc="-2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numbers,</a:t>
            </a:r>
            <a:r>
              <a:rPr sz="950" spc="-3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buyer</a:t>
            </a:r>
            <a:r>
              <a:rPr sz="950" spc="-1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interest,</a:t>
            </a:r>
            <a:r>
              <a:rPr sz="950" spc="-5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and</a:t>
            </a:r>
            <a:r>
              <a:rPr sz="95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strategic</a:t>
            </a:r>
            <a:r>
              <a:rPr sz="950" spc="-3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recommendations.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28625" y="3846908"/>
            <a:ext cx="8286750" cy="742950"/>
            <a:chOff x="428625" y="3846908"/>
            <a:chExt cx="8286750" cy="742950"/>
          </a:xfrm>
        </p:grpSpPr>
        <p:sp>
          <p:nvSpPr>
            <p:cNvPr id="16" name="object 16"/>
            <p:cNvSpPr/>
            <p:nvPr/>
          </p:nvSpPr>
          <p:spPr>
            <a:xfrm>
              <a:off x="428625" y="3846908"/>
              <a:ext cx="8286750" cy="742950"/>
            </a:xfrm>
            <a:custGeom>
              <a:avLst/>
              <a:gdLst/>
              <a:ahLst/>
              <a:cxnLst/>
              <a:rect l="l" t="t" r="r" b="b"/>
              <a:pathLst>
                <a:path w="8286750" h="742950">
                  <a:moveTo>
                    <a:pt x="8286749" y="0"/>
                  </a:moveTo>
                  <a:lnTo>
                    <a:pt x="0" y="0"/>
                  </a:lnTo>
                  <a:lnTo>
                    <a:pt x="0" y="742949"/>
                  </a:lnTo>
                  <a:lnTo>
                    <a:pt x="8286749" y="742949"/>
                  </a:lnTo>
                  <a:lnTo>
                    <a:pt x="8286749" y="0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8625" y="3846908"/>
              <a:ext cx="28575" cy="742950"/>
            </a:xfrm>
            <a:custGeom>
              <a:avLst/>
              <a:gdLst/>
              <a:ahLst/>
              <a:cxnLst/>
              <a:rect l="l" t="t" r="r" b="b"/>
              <a:pathLst>
                <a:path w="28575" h="742950">
                  <a:moveTo>
                    <a:pt x="28574" y="0"/>
                  </a:moveTo>
                  <a:lnTo>
                    <a:pt x="0" y="0"/>
                  </a:lnTo>
                  <a:lnTo>
                    <a:pt x="0" y="742949"/>
                  </a:lnTo>
                  <a:lnTo>
                    <a:pt x="28574" y="742949"/>
                  </a:lnTo>
                  <a:lnTo>
                    <a:pt x="28574" y="0"/>
                  </a:lnTo>
                  <a:close/>
                </a:path>
              </a:pathLst>
            </a:custGeom>
            <a:solidFill>
              <a:srgbClr val="246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57200" y="4158796"/>
            <a:ext cx="8258175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85420">
              <a:lnSpc>
                <a:spcPct val="100000"/>
              </a:lnSpc>
              <a:spcBef>
                <a:spcPts val="135"/>
              </a:spcBef>
            </a:pPr>
            <a:r>
              <a:rPr sz="950" b="1" dirty="0">
                <a:solidFill>
                  <a:srgbClr val="1E293A"/>
                </a:solidFill>
                <a:latin typeface="Calibri"/>
                <a:cs typeface="Calibri"/>
              </a:rPr>
              <a:t>Outcome:</a:t>
            </a:r>
            <a:r>
              <a:rPr sz="950" spc="7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1E293A"/>
                </a:solidFill>
                <a:latin typeface="Calibri"/>
                <a:cs typeface="Calibri"/>
              </a:rPr>
              <a:t>Increases</a:t>
            </a:r>
            <a:r>
              <a:rPr sz="950" spc="9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1E293A"/>
                </a:solidFill>
                <a:latin typeface="Calibri"/>
                <a:cs typeface="Calibri"/>
              </a:rPr>
              <a:t>conversion</a:t>
            </a:r>
            <a:r>
              <a:rPr sz="950" spc="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1E293A"/>
                </a:solidFill>
                <a:latin typeface="Calibri"/>
                <a:cs typeface="Calibri"/>
              </a:rPr>
              <a:t>rates</a:t>
            </a:r>
            <a:r>
              <a:rPr sz="950" spc="9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1E293A"/>
                </a:solidFill>
                <a:latin typeface="Calibri"/>
                <a:cs typeface="Calibri"/>
              </a:rPr>
              <a:t>and</a:t>
            </a:r>
            <a:r>
              <a:rPr sz="950" spc="7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1E293A"/>
                </a:solidFill>
                <a:latin typeface="Calibri"/>
                <a:cs typeface="Calibri"/>
              </a:rPr>
              <a:t>vendor</a:t>
            </a:r>
            <a:r>
              <a:rPr sz="950" spc="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1E293A"/>
                </a:solidFill>
                <a:latin typeface="Calibri"/>
                <a:cs typeface="Calibri"/>
              </a:rPr>
              <a:t>satisfaction</a:t>
            </a:r>
            <a:r>
              <a:rPr sz="950" spc="6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1E293A"/>
                </a:solidFill>
                <a:latin typeface="Calibri"/>
                <a:cs typeface="Calibri"/>
              </a:rPr>
              <a:t>through</a:t>
            </a:r>
            <a:r>
              <a:rPr sz="950" spc="6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1E293A"/>
                </a:solidFill>
                <a:latin typeface="Calibri"/>
                <a:cs typeface="Calibri"/>
              </a:rPr>
              <a:t>consistent,</a:t>
            </a:r>
            <a:r>
              <a:rPr sz="950" spc="6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1E293A"/>
                </a:solidFill>
                <a:latin typeface="Calibri"/>
                <a:cs typeface="Calibri"/>
              </a:rPr>
              <a:t>high-stakes</a:t>
            </a:r>
            <a:r>
              <a:rPr sz="950" spc="6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1E293A"/>
                </a:solidFill>
                <a:latin typeface="Calibri"/>
                <a:cs typeface="Calibri"/>
              </a:rPr>
              <a:t>communication</a:t>
            </a:r>
            <a:r>
              <a:rPr sz="950" spc="5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950" b="1" spc="-10" dirty="0">
                <a:solidFill>
                  <a:srgbClr val="1E293A"/>
                </a:solidFill>
                <a:latin typeface="Calibri"/>
                <a:cs typeface="Calibri"/>
              </a:rPr>
              <a:t>strategies.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539228" y="3538728"/>
            <a:ext cx="1543049" cy="15430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150" y="57152"/>
            <a:ext cx="9086850" cy="3457575"/>
            <a:chOff x="57150" y="57152"/>
            <a:chExt cx="9086850" cy="34575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1314450"/>
              <a:ext cx="8343899" cy="220027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7150" y="57152"/>
              <a:ext cx="9086850" cy="1227455"/>
            </a:xfrm>
            <a:custGeom>
              <a:avLst/>
              <a:gdLst/>
              <a:ahLst/>
              <a:cxnLst/>
              <a:rect l="l" t="t" r="r" b="b"/>
              <a:pathLst>
                <a:path w="9086850" h="1227455">
                  <a:moveTo>
                    <a:pt x="0" y="1226938"/>
                  </a:moveTo>
                  <a:lnTo>
                    <a:pt x="9086849" y="1226938"/>
                  </a:lnTo>
                  <a:lnTo>
                    <a:pt x="9086849" y="0"/>
                  </a:lnTo>
                  <a:lnTo>
                    <a:pt x="0" y="0"/>
                  </a:lnTo>
                  <a:lnTo>
                    <a:pt x="0" y="1226938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73146" y="468880"/>
            <a:ext cx="2265045" cy="3968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>
                <a:solidFill>
                  <a:srgbClr val="1E293A"/>
                </a:solidFill>
              </a:rPr>
              <a:t>RISK</a:t>
            </a:r>
            <a:r>
              <a:rPr b="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1E293A"/>
                </a:solidFill>
              </a:rPr>
              <a:t>MITIGATION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73146" y="938856"/>
            <a:ext cx="385572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10" dirty="0">
                <a:solidFill>
                  <a:srgbClr val="2462EB"/>
                </a:solidFill>
                <a:latin typeface="Calibri"/>
                <a:cs typeface="Calibri"/>
              </a:rPr>
              <a:t>Data-</a:t>
            </a:r>
            <a:r>
              <a:rPr sz="1250" dirty="0">
                <a:solidFill>
                  <a:srgbClr val="2462EB"/>
                </a:solidFill>
                <a:latin typeface="Calibri"/>
                <a:cs typeface="Calibri"/>
              </a:rPr>
              <a:t>Driven</a:t>
            </a:r>
            <a:r>
              <a:rPr sz="1250" spc="-30" dirty="0">
                <a:solidFill>
                  <a:srgbClr val="2462EB"/>
                </a:solidFill>
                <a:latin typeface="Times New Roman"/>
                <a:cs typeface="Times New Roman"/>
              </a:rPr>
              <a:t> </a:t>
            </a:r>
            <a:r>
              <a:rPr sz="1250" spc="-20" dirty="0">
                <a:solidFill>
                  <a:srgbClr val="2462EB"/>
                </a:solidFill>
                <a:latin typeface="Calibri"/>
                <a:cs typeface="Calibri"/>
              </a:rPr>
              <a:t>Tenant</a:t>
            </a:r>
            <a:r>
              <a:rPr sz="1250" spc="-25" dirty="0">
                <a:solidFill>
                  <a:srgbClr val="2462EB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2462EB"/>
                </a:solidFill>
                <a:latin typeface="Calibri"/>
                <a:cs typeface="Calibri"/>
              </a:rPr>
              <a:t>Assessment</a:t>
            </a:r>
            <a:r>
              <a:rPr sz="1250" spc="25" dirty="0">
                <a:solidFill>
                  <a:srgbClr val="2462EB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2462EB"/>
                </a:solidFill>
                <a:latin typeface="Calibri"/>
                <a:cs typeface="Calibri"/>
              </a:rPr>
              <a:t>&amp;</a:t>
            </a:r>
            <a:r>
              <a:rPr sz="1250" spc="10" dirty="0">
                <a:solidFill>
                  <a:srgbClr val="2462EB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2462EB"/>
                </a:solidFill>
                <a:latin typeface="Calibri"/>
                <a:cs typeface="Calibri"/>
              </a:rPr>
              <a:t>Personalized</a:t>
            </a:r>
            <a:r>
              <a:rPr sz="1250" spc="-15" dirty="0">
                <a:solidFill>
                  <a:srgbClr val="2462EB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2462EB"/>
                </a:solidFill>
                <a:latin typeface="Calibri"/>
                <a:cs typeface="Calibri"/>
              </a:rPr>
              <a:t>Follow-</a:t>
            </a:r>
            <a:r>
              <a:rPr sz="1250" spc="-25" dirty="0">
                <a:solidFill>
                  <a:srgbClr val="2462EB"/>
                </a:solidFill>
                <a:latin typeface="Calibri"/>
                <a:cs typeface="Calibri"/>
              </a:rPr>
              <a:t>ups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85775" y="1482333"/>
            <a:ext cx="8286750" cy="2630805"/>
            <a:chOff x="485775" y="1482333"/>
            <a:chExt cx="8286750" cy="263080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5775" y="1482333"/>
              <a:ext cx="357185" cy="28574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72040" y="1482333"/>
              <a:ext cx="357185" cy="28574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85775" y="3569982"/>
              <a:ext cx="8286750" cy="542925"/>
            </a:xfrm>
            <a:custGeom>
              <a:avLst/>
              <a:gdLst/>
              <a:ahLst/>
              <a:cxnLst/>
              <a:rect l="l" t="t" r="r" b="b"/>
              <a:pathLst>
                <a:path w="8286750" h="542925">
                  <a:moveTo>
                    <a:pt x="8286749" y="0"/>
                  </a:moveTo>
                  <a:lnTo>
                    <a:pt x="0" y="0"/>
                  </a:lnTo>
                  <a:lnTo>
                    <a:pt x="0" y="542924"/>
                  </a:lnTo>
                  <a:lnTo>
                    <a:pt x="8286749" y="542924"/>
                  </a:lnTo>
                  <a:lnTo>
                    <a:pt x="8286749" y="0"/>
                  </a:lnTo>
                  <a:close/>
                </a:path>
              </a:pathLst>
            </a:custGeom>
            <a:solidFill>
              <a:srgbClr val="1E29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73146" y="1878835"/>
            <a:ext cx="1292860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dirty="0">
                <a:solidFill>
                  <a:srgbClr val="1E293A"/>
                </a:solidFill>
                <a:latin typeface="Calibri"/>
                <a:cs typeface="Calibri"/>
              </a:rPr>
              <a:t>TENANT</a:t>
            </a:r>
            <a:r>
              <a:rPr sz="1150" spc="10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50" b="1" spc="-10" dirty="0">
                <a:solidFill>
                  <a:srgbClr val="1E293A"/>
                </a:solidFill>
                <a:latin typeface="Calibri"/>
                <a:cs typeface="Calibri"/>
              </a:rPr>
              <a:t>SCREENING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3146" y="2116648"/>
            <a:ext cx="3914140" cy="43180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Moving</a:t>
            </a:r>
            <a:r>
              <a:rPr sz="950" spc="-6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beyond</a:t>
            </a:r>
            <a:r>
              <a:rPr sz="950" spc="-2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basic</a:t>
            </a:r>
            <a:r>
              <a:rPr sz="950" spc="-4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checks</a:t>
            </a:r>
            <a:r>
              <a:rPr sz="950" spc="-2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to</a:t>
            </a:r>
            <a:r>
              <a:rPr sz="950" spc="-1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data-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driven</a:t>
            </a:r>
            <a:r>
              <a:rPr sz="950" spc="-3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assessments</a:t>
            </a:r>
            <a:r>
              <a:rPr sz="950" spc="-5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of</a:t>
            </a:r>
            <a:r>
              <a:rPr sz="950" spc="-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affordability</a:t>
            </a:r>
            <a:r>
              <a:rPr sz="950" spc="-5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and</a:t>
            </a:r>
            <a:r>
              <a:rPr sz="950" spc="-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20" dirty="0">
                <a:solidFill>
                  <a:srgbClr val="465469"/>
                </a:solidFill>
                <a:latin typeface="Calibri"/>
                <a:cs typeface="Calibri"/>
              </a:rPr>
              <a:t>risk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factors.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4769" y="2677488"/>
            <a:ext cx="3697604" cy="431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56500"/>
              </a:lnSpc>
              <a:spcBef>
                <a:spcPts val="90"/>
              </a:spcBef>
            </a:pPr>
            <a:r>
              <a:rPr sz="850" b="1" dirty="0">
                <a:solidFill>
                  <a:srgbClr val="1E293A"/>
                </a:solidFill>
                <a:latin typeface="Calibri"/>
                <a:cs typeface="Calibri"/>
              </a:rPr>
              <a:t>Assessment:</a:t>
            </a:r>
            <a:r>
              <a:rPr sz="850" spc="6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850" b="1" dirty="0">
                <a:solidFill>
                  <a:srgbClr val="1E293A"/>
                </a:solidFill>
                <a:latin typeface="Calibri"/>
                <a:cs typeface="Calibri"/>
              </a:rPr>
              <a:t>Tenants</a:t>
            </a:r>
            <a:r>
              <a:rPr sz="850" spc="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850" b="1" dirty="0">
                <a:solidFill>
                  <a:srgbClr val="1E293A"/>
                </a:solidFill>
                <a:latin typeface="Calibri"/>
                <a:cs typeface="Calibri"/>
              </a:rPr>
              <a:t>earning</a:t>
            </a:r>
            <a:r>
              <a:rPr sz="850" spc="9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850" b="1" dirty="0">
                <a:solidFill>
                  <a:srgbClr val="1E293A"/>
                </a:solidFill>
                <a:latin typeface="Calibri"/>
                <a:cs typeface="Calibri"/>
              </a:rPr>
              <a:t>$160,000</a:t>
            </a:r>
            <a:r>
              <a:rPr sz="850" spc="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850" b="1" dirty="0">
                <a:solidFill>
                  <a:srgbClr val="1E293A"/>
                </a:solidFill>
                <a:latin typeface="Calibri"/>
                <a:cs typeface="Calibri"/>
              </a:rPr>
              <a:t>assessed</a:t>
            </a:r>
            <a:r>
              <a:rPr sz="850" spc="5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850" b="1" dirty="0">
                <a:solidFill>
                  <a:srgbClr val="1E293A"/>
                </a:solidFill>
                <a:latin typeface="Calibri"/>
                <a:cs typeface="Calibri"/>
              </a:rPr>
              <a:t>for</a:t>
            </a:r>
            <a:r>
              <a:rPr sz="850" spc="8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850" b="1" dirty="0">
                <a:solidFill>
                  <a:srgbClr val="1E293A"/>
                </a:solidFill>
                <a:latin typeface="Calibri"/>
                <a:cs typeface="Calibri"/>
              </a:rPr>
              <a:t>$750/week</a:t>
            </a:r>
            <a:r>
              <a:rPr sz="850" spc="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850" b="1" dirty="0">
                <a:solidFill>
                  <a:srgbClr val="1E293A"/>
                </a:solidFill>
                <a:latin typeface="Calibri"/>
                <a:cs typeface="Calibri"/>
              </a:rPr>
              <a:t>rent</a:t>
            </a:r>
            <a:r>
              <a:rPr sz="850" spc="1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850" b="1" dirty="0">
                <a:solidFill>
                  <a:srgbClr val="1E293A"/>
                </a:solidFill>
                <a:latin typeface="Calibri"/>
                <a:cs typeface="Calibri"/>
              </a:rPr>
              <a:t>with</a:t>
            </a:r>
            <a:r>
              <a:rPr sz="850" spc="1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850" b="1" spc="-10" dirty="0">
                <a:solidFill>
                  <a:srgbClr val="1E293A"/>
                </a:solidFill>
                <a:latin typeface="Calibri"/>
                <a:cs typeface="Calibri"/>
              </a:rPr>
              <a:t>clear</a:t>
            </a:r>
            <a:r>
              <a:rPr sz="85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850" b="1" dirty="0">
                <a:solidFill>
                  <a:srgbClr val="1E293A"/>
                </a:solidFill>
                <a:latin typeface="Calibri"/>
                <a:cs typeface="Calibri"/>
              </a:rPr>
              <a:t>risk</a:t>
            </a:r>
            <a:r>
              <a:rPr sz="850" spc="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850" b="1" spc="-10" dirty="0">
                <a:solidFill>
                  <a:srgbClr val="1E293A"/>
                </a:solidFill>
                <a:latin typeface="Calibri"/>
                <a:cs typeface="Calibri"/>
              </a:rPr>
              <a:t>identification.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60217" y="1878835"/>
            <a:ext cx="1522730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dirty="0">
                <a:solidFill>
                  <a:srgbClr val="1E293A"/>
                </a:solidFill>
                <a:latin typeface="Calibri"/>
                <a:cs typeface="Calibri"/>
              </a:rPr>
              <a:t>APPRAISAL</a:t>
            </a:r>
            <a:r>
              <a:rPr sz="1150" spc="27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50" b="1" dirty="0">
                <a:solidFill>
                  <a:srgbClr val="1E293A"/>
                </a:solidFill>
                <a:latin typeface="Calibri"/>
                <a:cs typeface="Calibri"/>
              </a:rPr>
              <a:t>FOLLOW-</a:t>
            </a:r>
            <a:r>
              <a:rPr sz="1150" b="1" spc="-25" dirty="0">
                <a:solidFill>
                  <a:srgbClr val="1E293A"/>
                </a:solidFill>
                <a:latin typeface="Calibri"/>
                <a:cs typeface="Calibri"/>
              </a:rPr>
              <a:t>UP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60217" y="2116648"/>
            <a:ext cx="3851910" cy="43180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Personalized</a:t>
            </a:r>
            <a:r>
              <a:rPr sz="950" spc="-4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communication</a:t>
            </a:r>
            <a:r>
              <a:rPr sz="950" spc="-2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that</a:t>
            </a:r>
            <a:r>
              <a:rPr sz="950" spc="-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builds</a:t>
            </a:r>
            <a:r>
              <a:rPr sz="950" spc="-3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rapport</a:t>
            </a:r>
            <a:r>
              <a:rPr sz="950" spc="-5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and</a:t>
            </a:r>
            <a:r>
              <a:rPr sz="950" spc="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increases</a:t>
            </a:r>
            <a:r>
              <a:rPr sz="950" spc="-4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lead</a:t>
            </a:r>
            <a:r>
              <a:rPr sz="950" spc="-1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conversion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rates.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81502" y="2677488"/>
            <a:ext cx="3594735" cy="431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56500"/>
              </a:lnSpc>
              <a:spcBef>
                <a:spcPts val="90"/>
              </a:spcBef>
            </a:pPr>
            <a:r>
              <a:rPr sz="850" b="1" dirty="0">
                <a:solidFill>
                  <a:srgbClr val="1E293A"/>
                </a:solidFill>
                <a:latin typeface="Calibri"/>
                <a:cs typeface="Calibri"/>
              </a:rPr>
              <a:t>Personalization:</a:t>
            </a:r>
            <a:r>
              <a:rPr sz="850" spc="7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850" b="1" dirty="0">
                <a:solidFill>
                  <a:srgbClr val="1E293A"/>
                </a:solidFill>
                <a:latin typeface="Calibri"/>
                <a:cs typeface="Calibri"/>
              </a:rPr>
              <a:t>Friendly</a:t>
            </a:r>
            <a:r>
              <a:rPr sz="850" spc="1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850" b="1" dirty="0">
                <a:solidFill>
                  <a:srgbClr val="1E293A"/>
                </a:solidFill>
                <a:latin typeface="Calibri"/>
                <a:cs typeface="Calibri"/>
              </a:rPr>
              <a:t>follow-ups</a:t>
            </a:r>
            <a:r>
              <a:rPr sz="850" spc="8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850" b="1" dirty="0">
                <a:solidFill>
                  <a:srgbClr val="1E293A"/>
                </a:solidFill>
                <a:latin typeface="Calibri"/>
                <a:cs typeface="Calibri"/>
              </a:rPr>
              <a:t>for</a:t>
            </a:r>
            <a:r>
              <a:rPr sz="850" spc="114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850" b="1" dirty="0">
                <a:solidFill>
                  <a:srgbClr val="1E293A"/>
                </a:solidFill>
                <a:latin typeface="Calibri"/>
                <a:cs typeface="Calibri"/>
              </a:rPr>
              <a:t>Doncaster</a:t>
            </a:r>
            <a:r>
              <a:rPr sz="850" spc="9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850" b="1" dirty="0">
                <a:solidFill>
                  <a:srgbClr val="1E293A"/>
                </a:solidFill>
                <a:latin typeface="Calibri"/>
                <a:cs typeface="Calibri"/>
              </a:rPr>
              <a:t>homeowners,</a:t>
            </a:r>
            <a:r>
              <a:rPr sz="850" spc="1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850" b="1" spc="-10" dirty="0">
                <a:solidFill>
                  <a:srgbClr val="1E293A"/>
                </a:solidFill>
                <a:latin typeface="Calibri"/>
                <a:cs typeface="Calibri"/>
              </a:rPr>
              <a:t>mentioning</a:t>
            </a:r>
            <a:r>
              <a:rPr sz="85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850" b="1" dirty="0">
                <a:solidFill>
                  <a:srgbClr val="1E293A"/>
                </a:solidFill>
                <a:latin typeface="Calibri"/>
                <a:cs typeface="Calibri"/>
              </a:rPr>
              <a:t>specific</a:t>
            </a:r>
            <a:r>
              <a:rPr sz="850" spc="5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850" b="1" dirty="0">
                <a:solidFill>
                  <a:srgbClr val="1E293A"/>
                </a:solidFill>
                <a:latin typeface="Calibri"/>
                <a:cs typeface="Calibri"/>
              </a:rPr>
              <a:t>property</a:t>
            </a:r>
            <a:r>
              <a:rPr sz="850" spc="5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850" b="1" dirty="0">
                <a:solidFill>
                  <a:srgbClr val="1E293A"/>
                </a:solidFill>
                <a:latin typeface="Calibri"/>
                <a:cs typeface="Calibri"/>
              </a:rPr>
              <a:t>features</a:t>
            </a:r>
            <a:r>
              <a:rPr sz="850" spc="6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850" b="1" dirty="0">
                <a:solidFill>
                  <a:srgbClr val="1E293A"/>
                </a:solidFill>
                <a:latin typeface="Calibri"/>
                <a:cs typeface="Calibri"/>
              </a:rPr>
              <a:t>like</a:t>
            </a:r>
            <a:r>
              <a:rPr sz="850" spc="6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850" b="1" spc="-10" dirty="0">
                <a:solidFill>
                  <a:srgbClr val="1E293A"/>
                </a:solidFill>
                <a:latin typeface="Calibri"/>
                <a:cs typeface="Calibri"/>
              </a:rPr>
              <a:t>gardens.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7451" y="3743351"/>
            <a:ext cx="3581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Focus: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05817" y="3656459"/>
            <a:ext cx="59797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Quality</a:t>
            </a:r>
            <a:r>
              <a:rPr sz="10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over</a:t>
            </a:r>
            <a:r>
              <a:rPr sz="105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quantity</a:t>
            </a:r>
            <a:r>
              <a:rPr sz="10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05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lead</a:t>
            </a:r>
            <a:r>
              <a:rPr sz="10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conversion</a:t>
            </a:r>
            <a:r>
              <a:rPr sz="105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0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tenant</a:t>
            </a:r>
            <a:r>
              <a:rPr sz="10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selection</a:t>
            </a:r>
            <a:r>
              <a:rPr sz="10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0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protect</a:t>
            </a:r>
            <a:r>
              <a:rPr sz="10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10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assets</a:t>
            </a:r>
            <a:r>
              <a:rPr sz="10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05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build</a:t>
            </a:r>
            <a:r>
              <a:rPr sz="10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long-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term</a:t>
            </a:r>
            <a:r>
              <a:rPr sz="10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value.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39228" y="3538728"/>
            <a:ext cx="1543049" cy="15430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050" y="1315584"/>
            <a:ext cx="8343899" cy="325658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9144000" cy="1061085"/>
          </a:xfrm>
          <a:custGeom>
            <a:avLst/>
            <a:gdLst/>
            <a:ahLst/>
            <a:cxnLst/>
            <a:rect l="l" t="t" r="r" b="b"/>
            <a:pathLst>
              <a:path w="9144000" h="1061085">
                <a:moveTo>
                  <a:pt x="9143999" y="0"/>
                </a:moveTo>
                <a:lnTo>
                  <a:pt x="0" y="0"/>
                </a:lnTo>
                <a:lnTo>
                  <a:pt x="0" y="1060847"/>
                </a:lnTo>
                <a:lnTo>
                  <a:pt x="9143999" y="1060847"/>
                </a:lnTo>
                <a:lnTo>
                  <a:pt x="9143999" y="0"/>
                </a:lnTo>
                <a:close/>
              </a:path>
            </a:pathLst>
          </a:custGeom>
          <a:solidFill>
            <a:srgbClr val="F8FA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6151" y="411603"/>
            <a:ext cx="3993515" cy="3968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>
                <a:solidFill>
                  <a:srgbClr val="1E293A"/>
                </a:solidFill>
              </a:rPr>
              <a:t>THE</a:t>
            </a:r>
            <a:r>
              <a:rPr b="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pc="-25" dirty="0">
                <a:solidFill>
                  <a:srgbClr val="1E293A"/>
                </a:solidFill>
              </a:rPr>
              <a:t>IMPACT:</a:t>
            </a:r>
            <a:r>
              <a:rPr b="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1E293A"/>
                </a:solidFill>
              </a:rPr>
              <a:t>EFFICIENCY</a:t>
            </a:r>
            <a:r>
              <a:rPr b="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1E293A"/>
                </a:solidFill>
              </a:rPr>
              <a:t>&amp;</a:t>
            </a:r>
            <a:r>
              <a:rPr b="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pc="-25" dirty="0">
                <a:solidFill>
                  <a:srgbClr val="1E293A"/>
                </a:solidFill>
              </a:rPr>
              <a:t>ROI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7423" y="819642"/>
            <a:ext cx="1403350" cy="2000885"/>
          </a:xfrm>
          <a:prstGeom prst="rect">
            <a:avLst/>
          </a:prstGeom>
        </p:spPr>
        <p:txBody>
          <a:bodyPr vert="horz" wrap="square" lIns="0" tIns="466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75"/>
              </a:spcBef>
            </a:pPr>
            <a:r>
              <a:rPr sz="6200" b="1" spc="-25" dirty="0">
                <a:solidFill>
                  <a:srgbClr val="2462EB"/>
                </a:solidFill>
                <a:latin typeface="Calibri"/>
                <a:cs typeface="Calibri"/>
              </a:rPr>
              <a:t>70%</a:t>
            </a:r>
            <a:endParaRPr sz="6200">
              <a:latin typeface="Calibri"/>
              <a:cs typeface="Calibri"/>
            </a:endParaRPr>
          </a:p>
          <a:p>
            <a:pPr marL="12700" marR="149860">
              <a:lnSpc>
                <a:spcPct val="109000"/>
              </a:lnSpc>
              <a:spcBef>
                <a:spcPts val="735"/>
              </a:spcBef>
            </a:pPr>
            <a:r>
              <a:rPr sz="1450" dirty="0">
                <a:solidFill>
                  <a:srgbClr val="1E293A"/>
                </a:solidFill>
                <a:latin typeface="Calibri"/>
                <a:cs typeface="Calibri"/>
              </a:rPr>
              <a:t>REDUCTION</a:t>
            </a:r>
            <a:r>
              <a:rPr sz="1450" spc="1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450" spc="-25" dirty="0">
                <a:solidFill>
                  <a:srgbClr val="1E293A"/>
                </a:solidFill>
                <a:latin typeface="Calibri"/>
                <a:cs typeface="Calibri"/>
              </a:rPr>
              <a:t>IN</a:t>
            </a:r>
            <a:r>
              <a:rPr sz="145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1E293A"/>
                </a:solidFill>
                <a:latin typeface="Calibri"/>
                <a:cs typeface="Calibri"/>
              </a:rPr>
              <a:t>DRAFTING</a:t>
            </a:r>
            <a:r>
              <a:rPr sz="1450" spc="8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450" spc="-20" dirty="0">
                <a:solidFill>
                  <a:srgbClr val="1E293A"/>
                </a:solidFill>
                <a:latin typeface="Calibri"/>
                <a:cs typeface="Calibri"/>
              </a:rPr>
              <a:t>TIME</a:t>
            </a:r>
            <a:endParaRPr sz="145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41997" y="1670753"/>
            <a:ext cx="157162" cy="15716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30068" y="1645739"/>
            <a:ext cx="3763010" cy="604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5270">
              <a:lnSpc>
                <a:spcPct val="100000"/>
              </a:lnSpc>
              <a:spcBef>
                <a:spcPts val="95"/>
              </a:spcBef>
            </a:pPr>
            <a:r>
              <a:rPr sz="1100" b="1" spc="-10" dirty="0">
                <a:solidFill>
                  <a:srgbClr val="1E293A"/>
                </a:solidFill>
                <a:latin typeface="Calibri"/>
                <a:cs typeface="Calibri"/>
              </a:rPr>
              <a:t>QUALITY</a:t>
            </a:r>
            <a:r>
              <a:rPr sz="11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b="1" spc="-20" dirty="0">
                <a:solidFill>
                  <a:srgbClr val="1E293A"/>
                </a:solidFill>
                <a:latin typeface="Calibri"/>
                <a:cs typeface="Calibri"/>
              </a:rPr>
              <a:t>BOOST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22100"/>
              </a:lnSpc>
              <a:spcBef>
                <a:spcPts val="459"/>
              </a:spcBef>
            </a:pP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Professional-grade</a:t>
            </a:r>
            <a:r>
              <a:rPr sz="950" spc="-6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outputs</a:t>
            </a:r>
            <a:r>
              <a:rPr sz="950" spc="-2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that</a:t>
            </a:r>
            <a:r>
              <a:rPr sz="950" spc="-2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reflect</a:t>
            </a:r>
            <a:r>
              <a:rPr sz="950" spc="-3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your</a:t>
            </a:r>
            <a:r>
              <a:rPr sz="950" spc="-2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brand's</a:t>
            </a:r>
            <a:r>
              <a:rPr sz="950" spc="-4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voice</a:t>
            </a:r>
            <a:r>
              <a:rPr sz="950" spc="-2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and</a:t>
            </a:r>
            <a:r>
              <a:rPr sz="950" spc="-1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local</a:t>
            </a:r>
            <a:r>
              <a:rPr sz="950" spc="-3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expertise</a:t>
            </a:r>
            <a:r>
              <a:rPr sz="950" spc="-1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consistently.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41997" y="2807651"/>
            <a:ext cx="157162" cy="15715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330068" y="2783583"/>
            <a:ext cx="3968115" cy="6045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5270">
              <a:lnSpc>
                <a:spcPct val="100000"/>
              </a:lnSpc>
              <a:spcBef>
                <a:spcPts val="90"/>
              </a:spcBef>
            </a:pPr>
            <a:r>
              <a:rPr sz="1100" b="1" spc="-10" dirty="0">
                <a:solidFill>
                  <a:srgbClr val="1E293A"/>
                </a:solidFill>
                <a:latin typeface="Calibri"/>
                <a:cs typeface="Calibri"/>
              </a:rPr>
              <a:t>SCALABILITY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Empower</a:t>
            </a:r>
            <a:r>
              <a:rPr sz="950" spc="-3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your</a:t>
            </a:r>
            <a:r>
              <a:rPr sz="950" spc="-3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entire</a:t>
            </a:r>
            <a:r>
              <a:rPr sz="950" spc="-2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team</a:t>
            </a:r>
            <a:r>
              <a:rPr sz="950" spc="-2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with</a:t>
            </a:r>
            <a:r>
              <a:rPr sz="95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a</a:t>
            </a:r>
            <a:r>
              <a:rPr sz="950" spc="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standardized</a:t>
            </a:r>
            <a:r>
              <a:rPr sz="950" spc="-4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library</a:t>
            </a:r>
            <a:r>
              <a:rPr sz="950" spc="-4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of</a:t>
            </a:r>
            <a:r>
              <a:rPr sz="950" spc="-1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high-performing,</a:t>
            </a:r>
            <a:r>
              <a:rPr sz="950" spc="-4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tested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prompts.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41997" y="3944582"/>
            <a:ext cx="176807" cy="15715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330068" y="3920742"/>
            <a:ext cx="4072890" cy="4273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74955">
              <a:lnSpc>
                <a:spcPct val="100000"/>
              </a:lnSpc>
              <a:spcBef>
                <a:spcPts val="90"/>
              </a:spcBef>
            </a:pPr>
            <a:r>
              <a:rPr sz="1100" b="1" spc="-10" dirty="0">
                <a:solidFill>
                  <a:srgbClr val="1E293A"/>
                </a:solidFill>
                <a:latin typeface="Calibri"/>
                <a:cs typeface="Calibri"/>
              </a:rPr>
              <a:t>RESOURCE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b="1" spc="-10" dirty="0">
                <a:solidFill>
                  <a:srgbClr val="1E293A"/>
                </a:solidFill>
                <a:latin typeface="Calibri"/>
                <a:cs typeface="Calibri"/>
              </a:rPr>
              <a:t>ALLOCATION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Free</a:t>
            </a:r>
            <a:r>
              <a:rPr sz="950" spc="-3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up</a:t>
            </a:r>
            <a:r>
              <a:rPr sz="950" spc="-1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senior</a:t>
            </a:r>
            <a:r>
              <a:rPr sz="950" spc="-3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agents</a:t>
            </a:r>
            <a:r>
              <a:rPr sz="950" spc="-4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to</a:t>
            </a:r>
            <a:r>
              <a:rPr sz="950" spc="-1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focus</a:t>
            </a:r>
            <a:r>
              <a:rPr sz="950" spc="-1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on</a:t>
            </a:r>
            <a:r>
              <a:rPr sz="950" spc="-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high-value</a:t>
            </a:r>
            <a:r>
              <a:rPr sz="950" spc="-6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negotiations</a:t>
            </a:r>
            <a:r>
              <a:rPr sz="950" spc="-5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and</a:t>
            </a:r>
            <a:r>
              <a:rPr sz="950" spc="-2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relationship</a:t>
            </a:r>
            <a:r>
              <a:rPr sz="950" spc="-5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building.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4600182"/>
            <a:ext cx="9144000" cy="514350"/>
          </a:xfrm>
          <a:custGeom>
            <a:avLst/>
            <a:gdLst/>
            <a:ahLst/>
            <a:cxnLst/>
            <a:rect l="l" t="t" r="r" b="b"/>
            <a:pathLst>
              <a:path w="9144000" h="514350">
                <a:moveTo>
                  <a:pt x="9143999" y="0"/>
                </a:moveTo>
                <a:lnTo>
                  <a:pt x="0" y="0"/>
                </a:lnTo>
                <a:lnTo>
                  <a:pt x="0" y="514349"/>
                </a:lnTo>
                <a:lnTo>
                  <a:pt x="9143999" y="514349"/>
                </a:lnTo>
                <a:lnTo>
                  <a:pt x="9143999" y="0"/>
                </a:lnTo>
                <a:close/>
              </a:path>
            </a:pathLst>
          </a:custGeom>
          <a:solidFill>
            <a:srgbClr val="1E29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16151" y="4802222"/>
            <a:ext cx="6527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Conclusion: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28591" y="4802222"/>
            <a:ext cx="52939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Structured</a:t>
            </a:r>
            <a:r>
              <a:rPr sz="105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prompting</a:t>
            </a:r>
            <a:r>
              <a:rPr sz="10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0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0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bridge</a:t>
            </a:r>
            <a:r>
              <a:rPr sz="10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between</a:t>
            </a:r>
            <a:r>
              <a:rPr sz="105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"using</a:t>
            </a:r>
            <a:r>
              <a:rPr sz="10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AI"</a:t>
            </a:r>
            <a:r>
              <a:rPr sz="10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0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"mastering</a:t>
            </a:r>
            <a:r>
              <a:rPr sz="10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AI"</a:t>
            </a:r>
            <a:r>
              <a:rPr sz="10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0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real</a:t>
            </a:r>
            <a:r>
              <a:rPr sz="105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estate</a:t>
            </a:r>
            <a:r>
              <a:rPr sz="10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success.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539228" y="3538728"/>
            <a:ext cx="1543049" cy="15430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4479925"/>
            <a:chOff x="0" y="0"/>
            <a:chExt cx="9144000" cy="44799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5053" y="44373"/>
              <a:ext cx="8711802" cy="443495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9144000" cy="1061085"/>
            </a:xfrm>
            <a:custGeom>
              <a:avLst/>
              <a:gdLst/>
              <a:ahLst/>
              <a:cxnLst/>
              <a:rect l="l" t="t" r="r" b="b"/>
              <a:pathLst>
                <a:path w="9144000" h="1061085">
                  <a:moveTo>
                    <a:pt x="9143999" y="0"/>
                  </a:moveTo>
                  <a:lnTo>
                    <a:pt x="0" y="0"/>
                  </a:lnTo>
                  <a:lnTo>
                    <a:pt x="0" y="1060847"/>
                  </a:lnTo>
                  <a:lnTo>
                    <a:pt x="9143999" y="1060847"/>
                  </a:lnTo>
                  <a:lnTo>
                    <a:pt x="9143999" y="0"/>
                  </a:lnTo>
                  <a:close/>
                </a:path>
              </a:pathLst>
            </a:custGeom>
            <a:solidFill>
              <a:srgbClr val="1E29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16151" y="411603"/>
            <a:ext cx="4049395" cy="3968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NEXT</a:t>
            </a:r>
            <a:r>
              <a:rPr b="0" spc="-30" dirty="0">
                <a:latin typeface="Times New Roman"/>
                <a:cs typeface="Times New Roman"/>
              </a:rPr>
              <a:t> </a:t>
            </a:r>
            <a:r>
              <a:rPr dirty="0"/>
              <a:t>STEPS:</a:t>
            </a:r>
            <a:r>
              <a:rPr b="0" spc="-15" dirty="0">
                <a:latin typeface="Times New Roman"/>
                <a:cs typeface="Times New Roman"/>
              </a:rPr>
              <a:t> </a:t>
            </a:r>
            <a:r>
              <a:rPr spc="-10" dirty="0"/>
              <a:t>IMPLEMENTATION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7441" y="1486024"/>
            <a:ext cx="284480" cy="3327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b="1" spc="-25" dirty="0">
                <a:solidFill>
                  <a:srgbClr val="2462EB"/>
                </a:solidFill>
                <a:latin typeface="Calibri"/>
                <a:cs typeface="Calibri"/>
              </a:rPr>
              <a:t>01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94791" y="1657347"/>
            <a:ext cx="5411470" cy="4489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dirty="0">
                <a:solidFill>
                  <a:srgbClr val="1E293A"/>
                </a:solidFill>
                <a:latin typeface="Calibri"/>
                <a:cs typeface="Calibri"/>
              </a:rPr>
              <a:t>WORKFLOW</a:t>
            </a:r>
            <a:r>
              <a:rPr sz="1150" spc="16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50" b="1" spc="-10" dirty="0">
                <a:solidFill>
                  <a:srgbClr val="1E293A"/>
                </a:solidFill>
                <a:latin typeface="Calibri"/>
                <a:cs typeface="Calibri"/>
              </a:rPr>
              <a:t>INTEGRATION</a:t>
            </a: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Immediate</a:t>
            </a:r>
            <a:r>
              <a:rPr sz="950" spc="-6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deployment</a:t>
            </a:r>
            <a:r>
              <a:rPr sz="950" spc="-5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of</a:t>
            </a:r>
            <a:r>
              <a:rPr sz="950" spc="-1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the</a:t>
            </a:r>
            <a:r>
              <a:rPr sz="950" spc="-2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core</a:t>
            </a:r>
            <a:r>
              <a:rPr sz="950" spc="-3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Prompt</a:t>
            </a:r>
            <a:r>
              <a:rPr sz="950" spc="-4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Library</a:t>
            </a:r>
            <a:r>
              <a:rPr sz="950" spc="-5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into</a:t>
            </a:r>
            <a:r>
              <a:rPr sz="950" spc="-1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your</a:t>
            </a:r>
            <a:r>
              <a:rPr sz="950" spc="-3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agency's</a:t>
            </a:r>
            <a:r>
              <a:rPr sz="950" spc="-2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daily</a:t>
            </a:r>
            <a:r>
              <a:rPr sz="950" spc="-2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operational</a:t>
            </a:r>
            <a:r>
              <a:rPr sz="950" spc="-5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tools</a:t>
            </a:r>
            <a:r>
              <a:rPr sz="950" spc="-3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and</a:t>
            </a:r>
            <a:r>
              <a:rPr sz="950" spc="-1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CRM</a:t>
            </a:r>
            <a:r>
              <a:rPr sz="950" spc="-3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systems.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7441" y="2612514"/>
            <a:ext cx="284480" cy="3327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b="1" spc="-25" dirty="0">
                <a:solidFill>
                  <a:srgbClr val="2462EB"/>
                </a:solidFill>
                <a:latin typeface="Calibri"/>
                <a:cs typeface="Calibri"/>
              </a:rPr>
              <a:t>02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94791" y="2783838"/>
            <a:ext cx="6122035" cy="4489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dirty="0">
                <a:solidFill>
                  <a:srgbClr val="1E293A"/>
                </a:solidFill>
                <a:latin typeface="Calibri"/>
                <a:cs typeface="Calibri"/>
              </a:rPr>
              <a:t>TEAM</a:t>
            </a:r>
            <a:r>
              <a:rPr sz="1150" spc="6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50" b="1" spc="-10" dirty="0">
                <a:solidFill>
                  <a:srgbClr val="1E293A"/>
                </a:solidFill>
                <a:latin typeface="Calibri"/>
                <a:cs typeface="Calibri"/>
              </a:rPr>
              <a:t>TRAINING</a:t>
            </a: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Interactive</a:t>
            </a:r>
            <a:r>
              <a:rPr sz="950" spc="-6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workshops</a:t>
            </a:r>
            <a:r>
              <a:rPr sz="950" spc="-5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focused</a:t>
            </a:r>
            <a:r>
              <a:rPr sz="950" spc="-2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on</a:t>
            </a:r>
            <a:r>
              <a:rPr sz="950" spc="-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iterative</a:t>
            </a:r>
            <a:r>
              <a:rPr sz="950" spc="-5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refinement</a:t>
            </a:r>
            <a:r>
              <a:rPr sz="950" spc="-4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techniques</a:t>
            </a:r>
            <a:r>
              <a:rPr sz="950" spc="-4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to</a:t>
            </a:r>
            <a:r>
              <a:rPr sz="950" spc="-1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empower</a:t>
            </a:r>
            <a:r>
              <a:rPr sz="950" spc="-3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agents</a:t>
            </a:r>
            <a:r>
              <a:rPr sz="950" spc="-4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to</a:t>
            </a:r>
            <a:r>
              <a:rPr sz="950" spc="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adapt</a:t>
            </a:r>
            <a:r>
              <a:rPr sz="950" spc="-3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prompts</a:t>
            </a:r>
            <a:r>
              <a:rPr sz="950" spc="-5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for</a:t>
            </a:r>
            <a:r>
              <a:rPr sz="950" spc="-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unique</a:t>
            </a:r>
            <a:r>
              <a:rPr sz="950" spc="-4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scenarios.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7441" y="3739077"/>
            <a:ext cx="284480" cy="3327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b="1" spc="-25" dirty="0">
                <a:solidFill>
                  <a:srgbClr val="2462EB"/>
                </a:solidFill>
                <a:latin typeface="Calibri"/>
                <a:cs typeface="Calibri"/>
              </a:rPr>
              <a:t>03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94791" y="3910384"/>
            <a:ext cx="5285105" cy="44830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dirty="0">
                <a:solidFill>
                  <a:srgbClr val="1E293A"/>
                </a:solidFill>
                <a:latin typeface="Calibri"/>
                <a:cs typeface="Calibri"/>
              </a:rPr>
              <a:t>NICHE</a:t>
            </a:r>
            <a:r>
              <a:rPr sz="1150" spc="7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50" b="1" spc="-10" dirty="0">
                <a:solidFill>
                  <a:srgbClr val="1E293A"/>
                </a:solidFill>
                <a:latin typeface="Calibri"/>
                <a:cs typeface="Calibri"/>
              </a:rPr>
              <a:t>CUSTOMIZATION</a:t>
            </a: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Development</a:t>
            </a:r>
            <a:r>
              <a:rPr sz="950" spc="-5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of</a:t>
            </a:r>
            <a:r>
              <a:rPr sz="950" spc="-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specialized</a:t>
            </a:r>
            <a:r>
              <a:rPr sz="950" spc="-2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prompt</a:t>
            </a:r>
            <a:r>
              <a:rPr sz="950" spc="-4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sets</a:t>
            </a:r>
            <a:r>
              <a:rPr sz="950" spc="-2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tailored</a:t>
            </a:r>
            <a:r>
              <a:rPr sz="950" spc="-4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to</a:t>
            </a:r>
            <a:r>
              <a:rPr sz="950" spc="1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your</a:t>
            </a:r>
            <a:r>
              <a:rPr sz="950" spc="-2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agency's</a:t>
            </a:r>
            <a:r>
              <a:rPr sz="950" spc="-2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specific</a:t>
            </a:r>
            <a:r>
              <a:rPr sz="950" spc="-2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market</a:t>
            </a:r>
            <a:r>
              <a:rPr sz="950" spc="-4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segments</a:t>
            </a:r>
            <a:r>
              <a:rPr sz="950" spc="-4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and</a:t>
            </a:r>
            <a:r>
              <a:rPr sz="950" spc="-15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465469"/>
                </a:solidFill>
                <a:latin typeface="Calibri"/>
                <a:cs typeface="Calibri"/>
              </a:rPr>
              <a:t>brand</a:t>
            </a:r>
            <a:r>
              <a:rPr sz="950" spc="-10" dirty="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Calibri"/>
                <a:cs typeface="Calibri"/>
              </a:rPr>
              <a:t>voice.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4470534"/>
            <a:ext cx="9144000" cy="673100"/>
          </a:xfrm>
          <a:custGeom>
            <a:avLst/>
            <a:gdLst/>
            <a:ahLst/>
            <a:cxnLst/>
            <a:rect l="l" t="t" r="r" b="b"/>
            <a:pathLst>
              <a:path w="9144000" h="673100">
                <a:moveTo>
                  <a:pt x="0" y="672965"/>
                </a:moveTo>
                <a:lnTo>
                  <a:pt x="9143999" y="672965"/>
                </a:lnTo>
                <a:lnTo>
                  <a:pt x="9143999" y="0"/>
                </a:lnTo>
                <a:lnTo>
                  <a:pt x="0" y="0"/>
                </a:lnTo>
                <a:lnTo>
                  <a:pt x="0" y="672965"/>
                </a:lnTo>
                <a:close/>
              </a:path>
            </a:pathLst>
          </a:custGeom>
          <a:solidFill>
            <a:srgbClr val="246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16151" y="4813498"/>
            <a:ext cx="2493010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dirty="0">
                <a:solidFill>
                  <a:srgbClr val="FFFFFF"/>
                </a:solidFill>
                <a:latin typeface="Calibri"/>
                <a:cs typeface="Calibri"/>
              </a:rPr>
              <a:t>READY</a:t>
            </a:r>
            <a:r>
              <a:rPr sz="115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b="1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15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b="1" dirty="0">
                <a:solidFill>
                  <a:srgbClr val="FFFFFF"/>
                </a:solidFill>
                <a:latin typeface="Calibri"/>
                <a:cs typeface="Calibri"/>
              </a:rPr>
              <a:t>AUTOMATE</a:t>
            </a:r>
            <a:r>
              <a:rPr sz="115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b="1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115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b="1" spc="-10" dirty="0">
                <a:solidFill>
                  <a:srgbClr val="FFFFFF"/>
                </a:solidFill>
                <a:latin typeface="Calibri"/>
                <a:cs typeface="Calibri"/>
              </a:rPr>
              <a:t>SUCCESS?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24603" y="4829964"/>
            <a:ext cx="259270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Let's</a:t>
            </a:r>
            <a:r>
              <a:rPr sz="10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discuss</a:t>
            </a:r>
            <a:r>
              <a:rPr sz="10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105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custom</a:t>
            </a:r>
            <a:r>
              <a:rPr sz="10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implementation</a:t>
            </a:r>
            <a:r>
              <a:rPr sz="105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spc="-20" dirty="0">
                <a:solidFill>
                  <a:srgbClr val="FFFFFF"/>
                </a:solidFill>
                <a:latin typeface="Calibri"/>
                <a:cs typeface="Calibri"/>
              </a:rPr>
              <a:t>plan.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39228" y="3538728"/>
            <a:ext cx="1543049" cy="15430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801</Words>
  <Application>Microsoft Office PowerPoint</Application>
  <PresentationFormat>Bildschirmpräsentation (16:9)</PresentationFormat>
  <Paragraphs>106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3" baseType="lpstr">
      <vt:lpstr>Calibri</vt:lpstr>
      <vt:lpstr>Times New Roman</vt:lpstr>
      <vt:lpstr>Office Theme</vt:lpstr>
      <vt:lpstr>AI-POWERED PROMPT LIBRARY FOR REAL ESTATE</vt:lpstr>
      <vt:lpstr>WHY BASIC AI QUERIES FAIL</vt:lpstr>
      <vt:lpstr>THE STRATEGIC FRAMEWORK</vt:lpstr>
      <vt:lpstr>PRECISION MARKET RESEARCH</vt:lpstr>
      <vt:lpstr>OPERATIONAL EXCELLENCE</vt:lpstr>
      <vt:lpstr>HIGH-IMPACT MARKETING &amp; COPYWRITING</vt:lpstr>
      <vt:lpstr>SALES MASTERY</vt:lpstr>
      <vt:lpstr>RISK MITIGATION</vt:lpstr>
      <vt:lpstr>THE IMPACT: EFFICIENCY &amp; ROI</vt:lpstr>
      <vt:lpstr>NEXT STEPS: IMPLEMENTATION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Online2PDF.com</cp:lastModifiedBy>
  <cp:revision>1</cp:revision>
  <dcterms:created xsi:type="dcterms:W3CDTF">2026-03-30T06:33:23Z</dcterms:created>
  <dcterms:modified xsi:type="dcterms:W3CDTF">2026-03-30T06:33:26Z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2026-03-30T00:00:00Z</vt:filetime>
  </property>
  <property fmtid="{D5CDD505-2E9C-101B-9397-08002B2CF9AE}" pid="3" name="LastSaved">
    <vt:filetime>2026-03-30T00:00:00Z</vt:filetime>
  </property>
</Properties>
</file>